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3" d="100"/>
          <a:sy n="73" d="100"/>
        </p:scale>
        <p:origin x="1738" y="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194C7B-D03A-410C-841F-0E6FB6A6CC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8EC74EE-951A-4594-8F7F-88433B1DC562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dirty="0"/>
            <a:t>Overall revenue trend is positive</a:t>
          </a:r>
          <a:r>
            <a:rPr lang="en-US" sz="1600" dirty="0"/>
            <a:t>, with noticeable acceleration in later periods.</a:t>
          </a:r>
          <a:endParaRPr lang="en-IN" sz="1600" dirty="0"/>
        </a:p>
      </dgm:t>
    </dgm:pt>
    <dgm:pt modelId="{A03EA3EB-A2E1-4570-9F5A-437F40CA5974}" type="parTrans" cxnId="{2BDC4A04-ADA1-4209-89CA-60757D989AF2}">
      <dgm:prSet/>
      <dgm:spPr/>
      <dgm:t>
        <a:bodyPr/>
        <a:lstStyle/>
        <a:p>
          <a:endParaRPr lang="en-IN"/>
        </a:p>
      </dgm:t>
    </dgm:pt>
    <dgm:pt modelId="{FCE8D1AE-5918-4DD2-9726-0B1B26A560F0}" type="sibTrans" cxnId="{2BDC4A04-ADA1-4209-89CA-60757D989AF2}">
      <dgm:prSet/>
      <dgm:spPr/>
      <dgm:t>
        <a:bodyPr/>
        <a:lstStyle/>
        <a:p>
          <a:endParaRPr lang="en-IN"/>
        </a:p>
      </dgm:t>
    </dgm:pt>
    <dgm:pt modelId="{EC60B070-C245-40AB-994C-42E2AA2B0131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dirty="0"/>
            <a:t>Month-to-month variability exists</a:t>
          </a:r>
          <a:r>
            <a:rPr lang="en-US" sz="1600" dirty="0"/>
            <a:t>, but the long-term trajectory remains strong.</a:t>
          </a:r>
          <a:endParaRPr lang="en-IN" sz="1600" dirty="0"/>
        </a:p>
      </dgm:t>
    </dgm:pt>
    <dgm:pt modelId="{5BBFD9C5-A530-491D-AD3D-6F868D06BF76}" type="parTrans" cxnId="{84D968CC-EF58-41A8-8F8A-854BC40AD67B}">
      <dgm:prSet/>
      <dgm:spPr/>
      <dgm:t>
        <a:bodyPr/>
        <a:lstStyle/>
        <a:p>
          <a:endParaRPr lang="en-IN"/>
        </a:p>
      </dgm:t>
    </dgm:pt>
    <dgm:pt modelId="{836BD7F3-30CC-430D-B6C1-FAEDD2411607}" type="sibTrans" cxnId="{84D968CC-EF58-41A8-8F8A-854BC40AD67B}">
      <dgm:prSet/>
      <dgm:spPr/>
      <dgm:t>
        <a:bodyPr/>
        <a:lstStyle/>
        <a:p>
          <a:endParaRPr lang="en-IN"/>
        </a:p>
      </dgm:t>
    </dgm:pt>
    <dgm:pt modelId="{65D8E7F4-951D-45D9-8321-BB222F38E730}" type="pres">
      <dgm:prSet presAssocID="{5B194C7B-D03A-410C-841F-0E6FB6A6CC01}" presName="linear" presStyleCnt="0">
        <dgm:presLayoutVars>
          <dgm:animLvl val="lvl"/>
          <dgm:resizeHandles val="exact"/>
        </dgm:presLayoutVars>
      </dgm:prSet>
      <dgm:spPr/>
    </dgm:pt>
    <dgm:pt modelId="{DAB18BEA-5D01-4FD9-9D0C-62E5011F2B37}" type="pres">
      <dgm:prSet presAssocID="{E8EC74EE-951A-4594-8F7F-88433B1DC56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EDCFB96-D0BF-43A3-8663-A34B69F09E33}" type="pres">
      <dgm:prSet presAssocID="{FCE8D1AE-5918-4DD2-9726-0B1B26A560F0}" presName="spacer" presStyleCnt="0"/>
      <dgm:spPr/>
    </dgm:pt>
    <dgm:pt modelId="{9BE90E48-677F-466F-A0C1-82620612BC07}" type="pres">
      <dgm:prSet presAssocID="{EC60B070-C245-40AB-994C-42E2AA2B013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BDC4A04-ADA1-4209-89CA-60757D989AF2}" srcId="{5B194C7B-D03A-410C-841F-0E6FB6A6CC01}" destId="{E8EC74EE-951A-4594-8F7F-88433B1DC562}" srcOrd="0" destOrd="0" parTransId="{A03EA3EB-A2E1-4570-9F5A-437F40CA5974}" sibTransId="{FCE8D1AE-5918-4DD2-9726-0B1B26A560F0}"/>
    <dgm:cxn modelId="{D8D9DB26-75FA-45B5-9660-9373B5E1ADBC}" type="presOf" srcId="{5B194C7B-D03A-410C-841F-0E6FB6A6CC01}" destId="{65D8E7F4-951D-45D9-8321-BB222F38E730}" srcOrd="0" destOrd="0" presId="urn:microsoft.com/office/officeart/2005/8/layout/vList2"/>
    <dgm:cxn modelId="{9BB7063B-29BC-4499-BC8F-1E172D1B1137}" type="presOf" srcId="{E8EC74EE-951A-4594-8F7F-88433B1DC562}" destId="{DAB18BEA-5D01-4FD9-9D0C-62E5011F2B37}" srcOrd="0" destOrd="0" presId="urn:microsoft.com/office/officeart/2005/8/layout/vList2"/>
    <dgm:cxn modelId="{93FCADB3-3CEC-491F-97F4-9FF554CCC0C4}" type="presOf" srcId="{EC60B070-C245-40AB-994C-42E2AA2B0131}" destId="{9BE90E48-677F-466F-A0C1-82620612BC07}" srcOrd="0" destOrd="0" presId="urn:microsoft.com/office/officeart/2005/8/layout/vList2"/>
    <dgm:cxn modelId="{84D968CC-EF58-41A8-8F8A-854BC40AD67B}" srcId="{5B194C7B-D03A-410C-841F-0E6FB6A6CC01}" destId="{EC60B070-C245-40AB-994C-42E2AA2B0131}" srcOrd="1" destOrd="0" parTransId="{5BBFD9C5-A530-491D-AD3D-6F868D06BF76}" sibTransId="{836BD7F3-30CC-430D-B6C1-FAEDD2411607}"/>
    <dgm:cxn modelId="{208CBD2F-C05D-43D2-831E-DA860C1FC891}" type="presParOf" srcId="{65D8E7F4-951D-45D9-8321-BB222F38E730}" destId="{DAB18BEA-5D01-4FD9-9D0C-62E5011F2B37}" srcOrd="0" destOrd="0" presId="urn:microsoft.com/office/officeart/2005/8/layout/vList2"/>
    <dgm:cxn modelId="{73A68B75-9593-453B-B947-40695E35B17D}" type="presParOf" srcId="{65D8E7F4-951D-45D9-8321-BB222F38E730}" destId="{7EDCFB96-D0BF-43A3-8663-A34B69F09E33}" srcOrd="1" destOrd="0" presId="urn:microsoft.com/office/officeart/2005/8/layout/vList2"/>
    <dgm:cxn modelId="{136AAE7A-412D-4DD5-A7E9-B064C08FFFB3}" type="presParOf" srcId="{65D8E7F4-951D-45D9-8321-BB222F38E730}" destId="{9BE90E48-677F-466F-A0C1-82620612BC0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11E558-4FA1-45FB-BBCD-7B0FC0D046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29FFDAB-1B4A-4BA9-9879-5E772460A776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i="0" baseline="0" dirty="0"/>
            <a:t>Sales are heavily driven by Beverages and Dairy Products</a:t>
          </a:r>
          <a:r>
            <a:rPr lang="en-US" sz="1600" b="0" i="0" baseline="0" dirty="0"/>
            <a:t>, making them key focus areas for revenue growth.</a:t>
          </a:r>
          <a:endParaRPr lang="en-IN" sz="1600" dirty="0"/>
        </a:p>
      </dgm:t>
    </dgm:pt>
    <dgm:pt modelId="{A19BEE2E-92B8-4573-AA1E-20442047F7FC}" type="parTrans" cxnId="{4E6693C2-6E0B-4C13-93F3-6CEBB927B552}">
      <dgm:prSet/>
      <dgm:spPr/>
      <dgm:t>
        <a:bodyPr/>
        <a:lstStyle/>
        <a:p>
          <a:endParaRPr lang="en-IN"/>
        </a:p>
      </dgm:t>
    </dgm:pt>
    <dgm:pt modelId="{78BEDC86-2B50-4558-B6B5-ED89BAD95AA5}" type="sibTrans" cxnId="{4E6693C2-6E0B-4C13-93F3-6CEBB927B552}">
      <dgm:prSet/>
      <dgm:spPr/>
      <dgm:t>
        <a:bodyPr/>
        <a:lstStyle/>
        <a:p>
          <a:endParaRPr lang="en-IN"/>
        </a:p>
      </dgm:t>
    </dgm:pt>
    <dgm:pt modelId="{F3A8856A-28A6-4972-BBFE-AC3F58A67ACC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i="0" baseline="0" dirty="0"/>
            <a:t>Lower-revenue categories may benefit from targeted promotions.</a:t>
          </a:r>
          <a:endParaRPr lang="en-IN" sz="1600" dirty="0"/>
        </a:p>
      </dgm:t>
    </dgm:pt>
    <dgm:pt modelId="{43622E4D-A915-4005-87EE-4D2A6EECACBB}" type="parTrans" cxnId="{C412826F-E0A1-453A-A647-8B56BF085CE2}">
      <dgm:prSet/>
      <dgm:spPr/>
      <dgm:t>
        <a:bodyPr/>
        <a:lstStyle/>
        <a:p>
          <a:endParaRPr lang="en-IN"/>
        </a:p>
      </dgm:t>
    </dgm:pt>
    <dgm:pt modelId="{9217F75B-7177-45C4-A4D9-2CCD91455C4F}" type="sibTrans" cxnId="{C412826F-E0A1-453A-A647-8B56BF085CE2}">
      <dgm:prSet/>
      <dgm:spPr/>
      <dgm:t>
        <a:bodyPr/>
        <a:lstStyle/>
        <a:p>
          <a:endParaRPr lang="en-IN"/>
        </a:p>
      </dgm:t>
    </dgm:pt>
    <dgm:pt modelId="{06B23927-BBE3-460E-95F7-38D8F6B54C7E}" type="pres">
      <dgm:prSet presAssocID="{0C11E558-4FA1-45FB-BBCD-7B0FC0D046F3}" presName="linear" presStyleCnt="0">
        <dgm:presLayoutVars>
          <dgm:animLvl val="lvl"/>
          <dgm:resizeHandles val="exact"/>
        </dgm:presLayoutVars>
      </dgm:prSet>
      <dgm:spPr/>
    </dgm:pt>
    <dgm:pt modelId="{1CFFE029-E403-4FD8-9A28-CA030CCAD0F0}" type="pres">
      <dgm:prSet presAssocID="{629FFDAB-1B4A-4BA9-9879-5E772460A77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9949D4A-3F3B-4658-B278-B588DE6860D4}" type="pres">
      <dgm:prSet presAssocID="{78BEDC86-2B50-4558-B6B5-ED89BAD95AA5}" presName="spacer" presStyleCnt="0"/>
      <dgm:spPr/>
    </dgm:pt>
    <dgm:pt modelId="{3250D139-813F-4EFE-8B1A-314CDA5D075E}" type="pres">
      <dgm:prSet presAssocID="{F3A8856A-28A6-4972-BBFE-AC3F58A67ACC}" presName="parentText" presStyleLbl="node1" presStyleIdx="1" presStyleCnt="2" custLinFactY="75914" custLinFactNeighborX="-98" custLinFactNeighborY="100000">
        <dgm:presLayoutVars>
          <dgm:chMax val="0"/>
          <dgm:bulletEnabled val="1"/>
        </dgm:presLayoutVars>
      </dgm:prSet>
      <dgm:spPr/>
    </dgm:pt>
  </dgm:ptLst>
  <dgm:cxnLst>
    <dgm:cxn modelId="{586CCF1E-7557-4625-B136-CF59BA3627CB}" type="presOf" srcId="{F3A8856A-28A6-4972-BBFE-AC3F58A67ACC}" destId="{3250D139-813F-4EFE-8B1A-314CDA5D075E}" srcOrd="0" destOrd="0" presId="urn:microsoft.com/office/officeart/2005/8/layout/vList2"/>
    <dgm:cxn modelId="{B431406B-1037-4E72-8299-A97567C1462F}" type="presOf" srcId="{0C11E558-4FA1-45FB-BBCD-7B0FC0D046F3}" destId="{06B23927-BBE3-460E-95F7-38D8F6B54C7E}" srcOrd="0" destOrd="0" presId="urn:microsoft.com/office/officeart/2005/8/layout/vList2"/>
    <dgm:cxn modelId="{C412826F-E0A1-453A-A647-8B56BF085CE2}" srcId="{0C11E558-4FA1-45FB-BBCD-7B0FC0D046F3}" destId="{F3A8856A-28A6-4972-BBFE-AC3F58A67ACC}" srcOrd="1" destOrd="0" parTransId="{43622E4D-A915-4005-87EE-4D2A6EECACBB}" sibTransId="{9217F75B-7177-45C4-A4D9-2CCD91455C4F}"/>
    <dgm:cxn modelId="{4E6693C2-6E0B-4C13-93F3-6CEBB927B552}" srcId="{0C11E558-4FA1-45FB-BBCD-7B0FC0D046F3}" destId="{629FFDAB-1B4A-4BA9-9879-5E772460A776}" srcOrd="0" destOrd="0" parTransId="{A19BEE2E-92B8-4573-AA1E-20442047F7FC}" sibTransId="{78BEDC86-2B50-4558-B6B5-ED89BAD95AA5}"/>
    <dgm:cxn modelId="{522BAFC5-0FDE-4D85-92C3-EDA602DF749E}" type="presOf" srcId="{629FFDAB-1B4A-4BA9-9879-5E772460A776}" destId="{1CFFE029-E403-4FD8-9A28-CA030CCAD0F0}" srcOrd="0" destOrd="0" presId="urn:microsoft.com/office/officeart/2005/8/layout/vList2"/>
    <dgm:cxn modelId="{A4B20BE8-CE15-47AB-B123-245DE19B1CFB}" type="presParOf" srcId="{06B23927-BBE3-460E-95F7-38D8F6B54C7E}" destId="{1CFFE029-E403-4FD8-9A28-CA030CCAD0F0}" srcOrd="0" destOrd="0" presId="urn:microsoft.com/office/officeart/2005/8/layout/vList2"/>
    <dgm:cxn modelId="{34598FA7-7E98-432D-83D0-D7E4EBF878C2}" type="presParOf" srcId="{06B23927-BBE3-460E-95F7-38D8F6B54C7E}" destId="{F9949D4A-3F3B-4658-B278-B588DE6860D4}" srcOrd="1" destOrd="0" presId="urn:microsoft.com/office/officeart/2005/8/layout/vList2"/>
    <dgm:cxn modelId="{90C65C66-F1BF-46B2-8A7C-2CE6FBCC70A8}" type="presParOf" srcId="{06B23927-BBE3-460E-95F7-38D8F6B54C7E}" destId="{3250D139-813F-4EFE-8B1A-314CDA5D075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AB0F5D-0815-4C25-B0BF-8D366A80319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D9639EE-A595-4E79-9FA1-F337A95F6187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dirty="0"/>
            <a:t>Out-of-stock items can directly impact sales and customer experience.</a:t>
          </a:r>
          <a:endParaRPr lang="en-IN" sz="1600" dirty="0"/>
        </a:p>
      </dgm:t>
    </dgm:pt>
    <dgm:pt modelId="{47C1384D-B8FB-46C5-84B3-7F33E221D1B3}" type="parTrans" cxnId="{6C48FA55-8563-49E5-8E90-212FD1DA71CF}">
      <dgm:prSet/>
      <dgm:spPr/>
      <dgm:t>
        <a:bodyPr/>
        <a:lstStyle/>
        <a:p>
          <a:endParaRPr lang="en-IN"/>
        </a:p>
      </dgm:t>
    </dgm:pt>
    <dgm:pt modelId="{E28E6091-C703-4BCD-B470-EE2DB5862B7A}" type="sibTrans" cxnId="{6C48FA55-8563-49E5-8E90-212FD1DA71CF}">
      <dgm:prSet/>
      <dgm:spPr/>
      <dgm:t>
        <a:bodyPr/>
        <a:lstStyle/>
        <a:p>
          <a:endParaRPr lang="en-IN"/>
        </a:p>
      </dgm:t>
    </dgm:pt>
    <dgm:pt modelId="{146A31C3-BEFA-4BB1-865C-59BFB1213706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dirty="0"/>
            <a:t>Low-stock items show that replenishment is in progress but needs close monitoring.</a:t>
          </a:r>
          <a:endParaRPr lang="en-IN" sz="1600" dirty="0"/>
        </a:p>
      </dgm:t>
    </dgm:pt>
    <dgm:pt modelId="{765E3B00-30D0-485A-9014-265FDA8E0B7D}" type="parTrans" cxnId="{7083369E-ACB5-4C0F-A0D3-BC7E799D9D03}">
      <dgm:prSet/>
      <dgm:spPr/>
      <dgm:t>
        <a:bodyPr/>
        <a:lstStyle/>
        <a:p>
          <a:endParaRPr lang="en-IN"/>
        </a:p>
      </dgm:t>
    </dgm:pt>
    <dgm:pt modelId="{15FBE34D-9EE2-4C0E-9EF0-E85233F73CFB}" type="sibTrans" cxnId="{7083369E-ACB5-4C0F-A0D3-BC7E799D9D03}">
      <dgm:prSet/>
      <dgm:spPr/>
      <dgm:t>
        <a:bodyPr/>
        <a:lstStyle/>
        <a:p>
          <a:endParaRPr lang="en-IN"/>
        </a:p>
      </dgm:t>
    </dgm:pt>
    <dgm:pt modelId="{585BA473-3428-42B8-8A87-B4B9FB53FD5D}" type="pres">
      <dgm:prSet presAssocID="{8BAB0F5D-0815-4C25-B0BF-8D366A80319B}" presName="linear" presStyleCnt="0">
        <dgm:presLayoutVars>
          <dgm:animLvl val="lvl"/>
          <dgm:resizeHandles val="exact"/>
        </dgm:presLayoutVars>
      </dgm:prSet>
      <dgm:spPr/>
    </dgm:pt>
    <dgm:pt modelId="{8FF66D38-FF91-4BAE-B528-0474B6D817D9}" type="pres">
      <dgm:prSet presAssocID="{8D9639EE-A595-4E79-9FA1-F337A95F618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EE52775-0158-423D-8F22-AF66812284EB}" type="pres">
      <dgm:prSet presAssocID="{E28E6091-C703-4BCD-B470-EE2DB5862B7A}" presName="spacer" presStyleCnt="0"/>
      <dgm:spPr/>
    </dgm:pt>
    <dgm:pt modelId="{99D947A1-5821-408A-806F-753BDEB51BF3}" type="pres">
      <dgm:prSet presAssocID="{146A31C3-BEFA-4BB1-865C-59BFB121370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42A5405-3ED2-41AC-A287-619D3A10BA82}" type="presOf" srcId="{8BAB0F5D-0815-4C25-B0BF-8D366A80319B}" destId="{585BA473-3428-42B8-8A87-B4B9FB53FD5D}" srcOrd="0" destOrd="0" presId="urn:microsoft.com/office/officeart/2005/8/layout/vList2"/>
    <dgm:cxn modelId="{282EBA61-3B9B-4D85-8B2B-467407D22E84}" type="presOf" srcId="{146A31C3-BEFA-4BB1-865C-59BFB1213706}" destId="{99D947A1-5821-408A-806F-753BDEB51BF3}" srcOrd="0" destOrd="0" presId="urn:microsoft.com/office/officeart/2005/8/layout/vList2"/>
    <dgm:cxn modelId="{6C48FA55-8563-49E5-8E90-212FD1DA71CF}" srcId="{8BAB0F5D-0815-4C25-B0BF-8D366A80319B}" destId="{8D9639EE-A595-4E79-9FA1-F337A95F6187}" srcOrd="0" destOrd="0" parTransId="{47C1384D-B8FB-46C5-84B3-7F33E221D1B3}" sibTransId="{E28E6091-C703-4BCD-B470-EE2DB5862B7A}"/>
    <dgm:cxn modelId="{7083369E-ACB5-4C0F-A0D3-BC7E799D9D03}" srcId="{8BAB0F5D-0815-4C25-B0BF-8D366A80319B}" destId="{146A31C3-BEFA-4BB1-865C-59BFB1213706}" srcOrd="1" destOrd="0" parTransId="{765E3B00-30D0-485A-9014-265FDA8E0B7D}" sibTransId="{15FBE34D-9EE2-4C0E-9EF0-E85233F73CFB}"/>
    <dgm:cxn modelId="{2D999BE2-4A75-4AD9-BD8C-0C23260C8DA4}" type="presOf" srcId="{8D9639EE-A595-4E79-9FA1-F337A95F6187}" destId="{8FF66D38-FF91-4BAE-B528-0474B6D817D9}" srcOrd="0" destOrd="0" presId="urn:microsoft.com/office/officeart/2005/8/layout/vList2"/>
    <dgm:cxn modelId="{8B29A62A-F852-4389-847C-7AD1E1353289}" type="presParOf" srcId="{585BA473-3428-42B8-8A87-B4B9FB53FD5D}" destId="{8FF66D38-FF91-4BAE-B528-0474B6D817D9}" srcOrd="0" destOrd="0" presId="urn:microsoft.com/office/officeart/2005/8/layout/vList2"/>
    <dgm:cxn modelId="{0B05BC4C-BECC-4A7E-AFB9-A2230FE2E0D5}" type="presParOf" srcId="{585BA473-3428-42B8-8A87-B4B9FB53FD5D}" destId="{1EE52775-0158-423D-8F22-AF66812284EB}" srcOrd="1" destOrd="0" presId="urn:microsoft.com/office/officeart/2005/8/layout/vList2"/>
    <dgm:cxn modelId="{CCA2A2C8-F091-4685-856B-015F2143ABF2}" type="presParOf" srcId="{585BA473-3428-42B8-8A87-B4B9FB53FD5D}" destId="{99D947A1-5821-408A-806F-753BDEB51BF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5858E7-BB24-406C-881D-1B9B279F1C7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FBDC105-9FD1-4698-B013-6CD7DC035EB4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dirty="0"/>
            <a:t>A small group of customers contributes a large share of total revenue.</a:t>
          </a:r>
          <a:endParaRPr lang="en-IN" sz="1600" dirty="0"/>
        </a:p>
      </dgm:t>
    </dgm:pt>
    <dgm:pt modelId="{5D8DDE0F-333B-45B4-9449-BCA57D7EED35}" type="parTrans" cxnId="{6B84E668-1CD2-4F63-8CBF-C34B87C053FD}">
      <dgm:prSet/>
      <dgm:spPr/>
      <dgm:t>
        <a:bodyPr/>
        <a:lstStyle/>
        <a:p>
          <a:endParaRPr lang="en-IN"/>
        </a:p>
      </dgm:t>
    </dgm:pt>
    <dgm:pt modelId="{AE164949-71F1-4FBF-A449-A72A934E11BE}" type="sibTrans" cxnId="{6B84E668-1CD2-4F63-8CBF-C34B87C053FD}">
      <dgm:prSet/>
      <dgm:spPr/>
      <dgm:t>
        <a:bodyPr/>
        <a:lstStyle/>
        <a:p>
          <a:endParaRPr lang="en-IN"/>
        </a:p>
      </dgm:t>
    </dgm:pt>
    <dgm:pt modelId="{1DBF4118-7699-496F-A99B-9385ED253EFD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dirty="0"/>
            <a:t>High-value customers are key for retention and repeat business.</a:t>
          </a:r>
          <a:endParaRPr lang="en-IN" sz="1600" dirty="0"/>
        </a:p>
      </dgm:t>
    </dgm:pt>
    <dgm:pt modelId="{A593570E-DD7F-495F-BC75-81A20891A26E}" type="parTrans" cxnId="{650A02AD-BA34-43E9-A7C3-62E113FEC03E}">
      <dgm:prSet/>
      <dgm:spPr/>
      <dgm:t>
        <a:bodyPr/>
        <a:lstStyle/>
        <a:p>
          <a:endParaRPr lang="en-IN"/>
        </a:p>
      </dgm:t>
    </dgm:pt>
    <dgm:pt modelId="{9A84E56B-DF9D-411F-85C7-D76FA75D225D}" type="sibTrans" cxnId="{650A02AD-BA34-43E9-A7C3-62E113FEC03E}">
      <dgm:prSet/>
      <dgm:spPr/>
      <dgm:t>
        <a:bodyPr/>
        <a:lstStyle/>
        <a:p>
          <a:endParaRPr lang="en-IN"/>
        </a:p>
      </dgm:t>
    </dgm:pt>
    <dgm:pt modelId="{444646CD-E85D-4270-A36A-6CC9AC751F78}" type="pres">
      <dgm:prSet presAssocID="{AA5858E7-BB24-406C-881D-1B9B279F1C7D}" presName="linear" presStyleCnt="0">
        <dgm:presLayoutVars>
          <dgm:animLvl val="lvl"/>
          <dgm:resizeHandles val="exact"/>
        </dgm:presLayoutVars>
      </dgm:prSet>
      <dgm:spPr/>
    </dgm:pt>
    <dgm:pt modelId="{F4490B03-68F2-4B4D-9FCE-6CE5C4A92A11}" type="pres">
      <dgm:prSet presAssocID="{EFBDC105-9FD1-4698-B013-6CD7DC035EB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EEA8080-3318-4E2C-8719-D8056A336D9C}" type="pres">
      <dgm:prSet presAssocID="{AE164949-71F1-4FBF-A449-A72A934E11BE}" presName="spacer" presStyleCnt="0"/>
      <dgm:spPr/>
    </dgm:pt>
    <dgm:pt modelId="{F855976F-6CC0-42B1-B676-D6DD9293001B}" type="pres">
      <dgm:prSet presAssocID="{1DBF4118-7699-496F-A99B-9385ED253EF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ACE1527-7BF9-4553-9B69-918E3D48F021}" type="presOf" srcId="{1DBF4118-7699-496F-A99B-9385ED253EFD}" destId="{F855976F-6CC0-42B1-B676-D6DD9293001B}" srcOrd="0" destOrd="0" presId="urn:microsoft.com/office/officeart/2005/8/layout/vList2"/>
    <dgm:cxn modelId="{58CF892E-4C3E-4604-AE78-40426749AEFD}" type="presOf" srcId="{AA5858E7-BB24-406C-881D-1B9B279F1C7D}" destId="{444646CD-E85D-4270-A36A-6CC9AC751F78}" srcOrd="0" destOrd="0" presId="urn:microsoft.com/office/officeart/2005/8/layout/vList2"/>
    <dgm:cxn modelId="{6B84E668-1CD2-4F63-8CBF-C34B87C053FD}" srcId="{AA5858E7-BB24-406C-881D-1B9B279F1C7D}" destId="{EFBDC105-9FD1-4698-B013-6CD7DC035EB4}" srcOrd="0" destOrd="0" parTransId="{5D8DDE0F-333B-45B4-9449-BCA57D7EED35}" sibTransId="{AE164949-71F1-4FBF-A449-A72A934E11BE}"/>
    <dgm:cxn modelId="{650A02AD-BA34-43E9-A7C3-62E113FEC03E}" srcId="{AA5858E7-BB24-406C-881D-1B9B279F1C7D}" destId="{1DBF4118-7699-496F-A99B-9385ED253EFD}" srcOrd="1" destOrd="0" parTransId="{A593570E-DD7F-495F-BC75-81A20891A26E}" sibTransId="{9A84E56B-DF9D-411F-85C7-D76FA75D225D}"/>
    <dgm:cxn modelId="{47F9FCF1-593B-4D5D-943D-E91868F91D92}" type="presOf" srcId="{EFBDC105-9FD1-4698-B013-6CD7DC035EB4}" destId="{F4490B03-68F2-4B4D-9FCE-6CE5C4A92A11}" srcOrd="0" destOrd="0" presId="urn:microsoft.com/office/officeart/2005/8/layout/vList2"/>
    <dgm:cxn modelId="{0C6F67C2-209C-485C-B006-10AF2D96F14F}" type="presParOf" srcId="{444646CD-E85D-4270-A36A-6CC9AC751F78}" destId="{F4490B03-68F2-4B4D-9FCE-6CE5C4A92A11}" srcOrd="0" destOrd="0" presId="urn:microsoft.com/office/officeart/2005/8/layout/vList2"/>
    <dgm:cxn modelId="{79B153C4-04E8-44E7-8EA4-4549BEC69D26}" type="presParOf" srcId="{444646CD-E85D-4270-A36A-6CC9AC751F78}" destId="{EEEA8080-3318-4E2C-8719-D8056A336D9C}" srcOrd="1" destOrd="0" presId="urn:microsoft.com/office/officeart/2005/8/layout/vList2"/>
    <dgm:cxn modelId="{34A4EAA5-9A14-45FD-9351-97E1C92113F3}" type="presParOf" srcId="{444646CD-E85D-4270-A36A-6CC9AC751F78}" destId="{F855976F-6CC0-42B1-B676-D6DD9293001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4D7D79-9D4D-4A05-9888-655DC1AF475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FC6FF5D-B3A0-4BCE-82B2-C5530B096EE9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dirty="0"/>
            <a:t>USA and Germany are the highest revenue-generating countries, showing strong regional performance.</a:t>
          </a:r>
          <a:endParaRPr lang="en-IN" sz="1600" dirty="0"/>
        </a:p>
      </dgm:t>
    </dgm:pt>
    <dgm:pt modelId="{5363F6E4-E46E-4285-8687-02AA1F6E4315}" type="parTrans" cxnId="{93959547-DAAF-4C6D-B547-6A20B6927136}">
      <dgm:prSet/>
      <dgm:spPr/>
      <dgm:t>
        <a:bodyPr/>
        <a:lstStyle/>
        <a:p>
          <a:endParaRPr lang="en-IN"/>
        </a:p>
      </dgm:t>
    </dgm:pt>
    <dgm:pt modelId="{B02E7B02-0D75-4E71-A1E8-41C5D4B73D3F}" type="sibTrans" cxnId="{93959547-DAAF-4C6D-B547-6A20B6927136}">
      <dgm:prSet/>
      <dgm:spPr/>
      <dgm:t>
        <a:bodyPr/>
        <a:lstStyle/>
        <a:p>
          <a:endParaRPr lang="en-IN"/>
        </a:p>
      </dgm:t>
    </dgm:pt>
    <dgm:pt modelId="{FA5F4445-5AD1-4391-9349-E30FF53E22A9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600" b="1" dirty="0"/>
            <a:t>Product supply is spread across multiple suppliers, with a few handling more products than others.</a:t>
          </a:r>
          <a:endParaRPr lang="en-IN" sz="1600" dirty="0"/>
        </a:p>
      </dgm:t>
    </dgm:pt>
    <dgm:pt modelId="{EAEB7168-B43B-4A68-8994-AC7522687DFE}" type="parTrans" cxnId="{0D406A52-F786-4C2E-972A-E551F48A68B9}">
      <dgm:prSet/>
      <dgm:spPr/>
      <dgm:t>
        <a:bodyPr/>
        <a:lstStyle/>
        <a:p>
          <a:endParaRPr lang="en-IN"/>
        </a:p>
      </dgm:t>
    </dgm:pt>
    <dgm:pt modelId="{A6ED2B7D-30ED-42DA-B81F-9E8514B50986}" type="sibTrans" cxnId="{0D406A52-F786-4C2E-972A-E551F48A68B9}">
      <dgm:prSet/>
      <dgm:spPr/>
      <dgm:t>
        <a:bodyPr/>
        <a:lstStyle/>
        <a:p>
          <a:endParaRPr lang="en-IN"/>
        </a:p>
      </dgm:t>
    </dgm:pt>
    <dgm:pt modelId="{85534D48-F683-4413-BD26-6FBCF00EF7BC}" type="pres">
      <dgm:prSet presAssocID="{904D7D79-9D4D-4A05-9888-655DC1AF4751}" presName="linear" presStyleCnt="0">
        <dgm:presLayoutVars>
          <dgm:animLvl val="lvl"/>
          <dgm:resizeHandles val="exact"/>
        </dgm:presLayoutVars>
      </dgm:prSet>
      <dgm:spPr/>
    </dgm:pt>
    <dgm:pt modelId="{224AB711-F971-46CC-B0CD-7CA5B83E382C}" type="pres">
      <dgm:prSet presAssocID="{3FC6FF5D-B3A0-4BCE-82B2-C5530B096EE9}" presName="parentText" presStyleLbl="node1" presStyleIdx="0" presStyleCnt="2" custLinFactNeighborX="-1200" custLinFactNeighborY="-12446">
        <dgm:presLayoutVars>
          <dgm:chMax val="0"/>
          <dgm:bulletEnabled val="1"/>
        </dgm:presLayoutVars>
      </dgm:prSet>
      <dgm:spPr/>
    </dgm:pt>
    <dgm:pt modelId="{FD25A3D3-B6C6-4D53-BEB7-5D329629247C}" type="pres">
      <dgm:prSet presAssocID="{B02E7B02-0D75-4E71-A1E8-41C5D4B73D3F}" presName="spacer" presStyleCnt="0"/>
      <dgm:spPr/>
    </dgm:pt>
    <dgm:pt modelId="{C53054DD-2B43-4187-9D01-B8AF63D71E91}" type="pres">
      <dgm:prSet presAssocID="{FA5F4445-5AD1-4391-9349-E30FF53E22A9}" presName="parentText" presStyleLbl="node1" presStyleIdx="1" presStyleCnt="2" custLinFactNeighborX="-1200" custLinFactNeighborY="12446">
        <dgm:presLayoutVars>
          <dgm:chMax val="0"/>
          <dgm:bulletEnabled val="1"/>
        </dgm:presLayoutVars>
      </dgm:prSet>
      <dgm:spPr/>
    </dgm:pt>
  </dgm:ptLst>
  <dgm:cxnLst>
    <dgm:cxn modelId="{577FA132-B516-46F4-BB4C-DFC635C8DC0F}" type="presOf" srcId="{3FC6FF5D-B3A0-4BCE-82B2-C5530B096EE9}" destId="{224AB711-F971-46CC-B0CD-7CA5B83E382C}" srcOrd="0" destOrd="0" presId="urn:microsoft.com/office/officeart/2005/8/layout/vList2"/>
    <dgm:cxn modelId="{93959547-DAAF-4C6D-B547-6A20B6927136}" srcId="{904D7D79-9D4D-4A05-9888-655DC1AF4751}" destId="{3FC6FF5D-B3A0-4BCE-82B2-C5530B096EE9}" srcOrd="0" destOrd="0" parTransId="{5363F6E4-E46E-4285-8687-02AA1F6E4315}" sibTransId="{B02E7B02-0D75-4E71-A1E8-41C5D4B73D3F}"/>
    <dgm:cxn modelId="{0D406A52-F786-4C2E-972A-E551F48A68B9}" srcId="{904D7D79-9D4D-4A05-9888-655DC1AF4751}" destId="{FA5F4445-5AD1-4391-9349-E30FF53E22A9}" srcOrd="1" destOrd="0" parTransId="{EAEB7168-B43B-4A68-8994-AC7522687DFE}" sibTransId="{A6ED2B7D-30ED-42DA-B81F-9E8514B50986}"/>
    <dgm:cxn modelId="{BF2E7A83-1FF5-49BC-9303-A7BC7B7ABD5D}" type="presOf" srcId="{904D7D79-9D4D-4A05-9888-655DC1AF4751}" destId="{85534D48-F683-4413-BD26-6FBCF00EF7BC}" srcOrd="0" destOrd="0" presId="urn:microsoft.com/office/officeart/2005/8/layout/vList2"/>
    <dgm:cxn modelId="{7D289EF4-77B2-4C83-BB7D-A42D6D4C05E3}" type="presOf" srcId="{FA5F4445-5AD1-4391-9349-E30FF53E22A9}" destId="{C53054DD-2B43-4187-9D01-B8AF63D71E91}" srcOrd="0" destOrd="0" presId="urn:microsoft.com/office/officeart/2005/8/layout/vList2"/>
    <dgm:cxn modelId="{A13589C0-7E49-4DDE-951E-C36FD475B101}" type="presParOf" srcId="{85534D48-F683-4413-BD26-6FBCF00EF7BC}" destId="{224AB711-F971-46CC-B0CD-7CA5B83E382C}" srcOrd="0" destOrd="0" presId="urn:microsoft.com/office/officeart/2005/8/layout/vList2"/>
    <dgm:cxn modelId="{9F6ABB8E-AD81-4AE5-B647-A7C4D16E80C6}" type="presParOf" srcId="{85534D48-F683-4413-BD26-6FBCF00EF7BC}" destId="{FD25A3D3-B6C6-4D53-BEB7-5D329629247C}" srcOrd="1" destOrd="0" presId="urn:microsoft.com/office/officeart/2005/8/layout/vList2"/>
    <dgm:cxn modelId="{A990826E-E7FA-4C0F-95AC-C36221258FC9}" type="presParOf" srcId="{85534D48-F683-4413-BD26-6FBCF00EF7BC}" destId="{C53054DD-2B43-4187-9D01-B8AF63D71E9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4EDBB5-81D1-4B82-A8BE-F1C983214FD6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C1A7877-6627-408C-B87F-458948E1D0B0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i="0" baseline="0" dirty="0"/>
            <a:t>Some products have high stock but low sales, which may lead to excess inventory.</a:t>
          </a:r>
          <a:endParaRPr lang="en-IN" dirty="0"/>
        </a:p>
      </dgm:t>
    </dgm:pt>
    <dgm:pt modelId="{1F78F0BE-586B-4E2E-AFBC-C630B8344525}" type="parTrans" cxnId="{1F7DE809-8E3E-4A6F-A7E2-9FEDE821A069}">
      <dgm:prSet/>
      <dgm:spPr/>
      <dgm:t>
        <a:bodyPr/>
        <a:lstStyle/>
        <a:p>
          <a:endParaRPr lang="en-IN"/>
        </a:p>
      </dgm:t>
    </dgm:pt>
    <dgm:pt modelId="{C0EC83F1-625C-482F-9864-59F43E7DEA73}" type="sibTrans" cxnId="{1F7DE809-8E3E-4A6F-A7E2-9FEDE821A069}">
      <dgm:prSet/>
      <dgm:spPr/>
      <dgm:t>
        <a:bodyPr/>
        <a:lstStyle/>
        <a:p>
          <a:endParaRPr lang="en-IN"/>
        </a:p>
      </dgm:t>
    </dgm:pt>
    <dgm:pt modelId="{F1333225-48DB-4FFD-A70B-3C3C8FDC02BF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i="0" baseline="0" dirty="0"/>
            <a:t>These insights help in taking action to reduce waste and improve stock management.</a:t>
          </a:r>
          <a:endParaRPr lang="en-IN" dirty="0"/>
        </a:p>
      </dgm:t>
    </dgm:pt>
    <dgm:pt modelId="{048CDC71-FE8C-468B-B3F8-E2DC451BB7F5}" type="parTrans" cxnId="{8C321D0A-5351-433A-AA32-7F7BA138BAD4}">
      <dgm:prSet/>
      <dgm:spPr/>
      <dgm:t>
        <a:bodyPr/>
        <a:lstStyle/>
        <a:p>
          <a:endParaRPr lang="en-IN"/>
        </a:p>
      </dgm:t>
    </dgm:pt>
    <dgm:pt modelId="{5FC0EBA2-DF48-4248-8D8D-D0779DBC6056}" type="sibTrans" cxnId="{8C321D0A-5351-433A-AA32-7F7BA138BAD4}">
      <dgm:prSet/>
      <dgm:spPr/>
      <dgm:t>
        <a:bodyPr/>
        <a:lstStyle/>
        <a:p>
          <a:endParaRPr lang="en-IN"/>
        </a:p>
      </dgm:t>
    </dgm:pt>
    <dgm:pt modelId="{28FC6791-2B50-4618-8E35-D3946E5E09B9}" type="pres">
      <dgm:prSet presAssocID="{624EDBB5-81D1-4B82-A8BE-F1C983214FD6}" presName="Name0" presStyleCnt="0">
        <dgm:presLayoutVars>
          <dgm:dir/>
          <dgm:resizeHandles val="exact"/>
        </dgm:presLayoutVars>
      </dgm:prSet>
      <dgm:spPr/>
    </dgm:pt>
    <dgm:pt modelId="{5F90DF41-17F8-44F5-8462-D71F4E68C51B}" type="pres">
      <dgm:prSet presAssocID="{CC1A7877-6627-408C-B87F-458948E1D0B0}" presName="Name5" presStyleLbl="vennNode1" presStyleIdx="0" presStyleCnt="2" custScaleX="118188">
        <dgm:presLayoutVars>
          <dgm:bulletEnabled val="1"/>
        </dgm:presLayoutVars>
      </dgm:prSet>
      <dgm:spPr/>
    </dgm:pt>
    <dgm:pt modelId="{04F83724-B8C8-48AF-B1B2-0C82DDF811A0}" type="pres">
      <dgm:prSet presAssocID="{C0EC83F1-625C-482F-9864-59F43E7DEA73}" presName="space" presStyleCnt="0"/>
      <dgm:spPr/>
    </dgm:pt>
    <dgm:pt modelId="{E9BC6154-1D29-48B0-A5C4-E45580FDD420}" type="pres">
      <dgm:prSet presAssocID="{F1333225-48DB-4FFD-A70B-3C3C8FDC02BF}" presName="Name5" presStyleLbl="vennNode1" presStyleIdx="1" presStyleCnt="2" custScaleX="125610">
        <dgm:presLayoutVars>
          <dgm:bulletEnabled val="1"/>
        </dgm:presLayoutVars>
      </dgm:prSet>
      <dgm:spPr/>
    </dgm:pt>
  </dgm:ptLst>
  <dgm:cxnLst>
    <dgm:cxn modelId="{1F7DE809-8E3E-4A6F-A7E2-9FEDE821A069}" srcId="{624EDBB5-81D1-4B82-A8BE-F1C983214FD6}" destId="{CC1A7877-6627-408C-B87F-458948E1D0B0}" srcOrd="0" destOrd="0" parTransId="{1F78F0BE-586B-4E2E-AFBC-C630B8344525}" sibTransId="{C0EC83F1-625C-482F-9864-59F43E7DEA73}"/>
    <dgm:cxn modelId="{8C321D0A-5351-433A-AA32-7F7BA138BAD4}" srcId="{624EDBB5-81D1-4B82-A8BE-F1C983214FD6}" destId="{F1333225-48DB-4FFD-A70B-3C3C8FDC02BF}" srcOrd="1" destOrd="0" parTransId="{048CDC71-FE8C-468B-B3F8-E2DC451BB7F5}" sibTransId="{5FC0EBA2-DF48-4248-8D8D-D0779DBC6056}"/>
    <dgm:cxn modelId="{271C1625-B429-4A4F-BA9A-D9C3F421F304}" type="presOf" srcId="{CC1A7877-6627-408C-B87F-458948E1D0B0}" destId="{5F90DF41-17F8-44F5-8462-D71F4E68C51B}" srcOrd="0" destOrd="0" presId="urn:microsoft.com/office/officeart/2005/8/layout/venn3"/>
    <dgm:cxn modelId="{E6F2D5C3-B91E-4527-9210-6000071F3650}" type="presOf" srcId="{F1333225-48DB-4FFD-A70B-3C3C8FDC02BF}" destId="{E9BC6154-1D29-48B0-A5C4-E45580FDD420}" srcOrd="0" destOrd="0" presId="urn:microsoft.com/office/officeart/2005/8/layout/venn3"/>
    <dgm:cxn modelId="{2C158DCA-28F5-4B4E-A34B-21037C1668C7}" type="presOf" srcId="{624EDBB5-81D1-4B82-A8BE-F1C983214FD6}" destId="{28FC6791-2B50-4618-8E35-D3946E5E09B9}" srcOrd="0" destOrd="0" presId="urn:microsoft.com/office/officeart/2005/8/layout/venn3"/>
    <dgm:cxn modelId="{165709D6-74D1-4D71-84C4-2F513D7A5435}" type="presParOf" srcId="{28FC6791-2B50-4618-8E35-D3946E5E09B9}" destId="{5F90DF41-17F8-44F5-8462-D71F4E68C51B}" srcOrd="0" destOrd="0" presId="urn:microsoft.com/office/officeart/2005/8/layout/venn3"/>
    <dgm:cxn modelId="{A73C8A79-075B-45A3-B424-F79B4A8C76C0}" type="presParOf" srcId="{28FC6791-2B50-4618-8E35-D3946E5E09B9}" destId="{04F83724-B8C8-48AF-B1B2-0C82DDF811A0}" srcOrd="1" destOrd="0" presId="urn:microsoft.com/office/officeart/2005/8/layout/venn3"/>
    <dgm:cxn modelId="{4B9DADA9-D140-48E5-A37D-BF6A61120141}" type="presParOf" srcId="{28FC6791-2B50-4618-8E35-D3946E5E09B9}" destId="{E9BC6154-1D29-48B0-A5C4-E45580FDD420}" srcOrd="2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033903-B6B9-415D-B9DC-EBF6685E8DD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5912B9E-9287-413D-B797-E4753F0B7B36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1600" dirty="0"/>
            <a:t>Gives a high-level view of overall business performance</a:t>
          </a:r>
          <a:endParaRPr lang="en-IN" sz="1600" dirty="0"/>
        </a:p>
      </dgm:t>
    </dgm:pt>
    <dgm:pt modelId="{44BA614F-177C-449F-82A9-BBD2806C5859}" type="parTrans" cxnId="{DC1FC7AB-0185-45EF-B4AB-9C3D36957F37}">
      <dgm:prSet/>
      <dgm:spPr/>
      <dgm:t>
        <a:bodyPr/>
        <a:lstStyle/>
        <a:p>
          <a:endParaRPr lang="en-IN"/>
        </a:p>
      </dgm:t>
    </dgm:pt>
    <dgm:pt modelId="{B0533820-9BAB-4717-AB0E-D85CCDD3D6BA}" type="sibTrans" cxnId="{DC1FC7AB-0185-45EF-B4AB-9C3D36957F37}">
      <dgm:prSet/>
      <dgm:spPr/>
      <dgm:t>
        <a:bodyPr/>
        <a:lstStyle/>
        <a:p>
          <a:endParaRPr lang="en-IN"/>
        </a:p>
      </dgm:t>
    </dgm:pt>
    <dgm:pt modelId="{B23F2040-4DAB-42DA-935A-5C7DC07924D1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r>
            <a:rPr lang="en-US" sz="1600" dirty="0"/>
            <a:t>Allows easy navigation to detailed analysis pages</a:t>
          </a:r>
          <a:endParaRPr lang="en-IN" sz="1600" dirty="0"/>
        </a:p>
      </dgm:t>
    </dgm:pt>
    <dgm:pt modelId="{1EDA49E0-37EA-4DC7-AFB0-6BC117199976}" type="parTrans" cxnId="{ABD3C194-0B35-4A42-A314-BDECA1069AA0}">
      <dgm:prSet/>
      <dgm:spPr/>
      <dgm:t>
        <a:bodyPr/>
        <a:lstStyle/>
        <a:p>
          <a:endParaRPr lang="en-IN"/>
        </a:p>
      </dgm:t>
    </dgm:pt>
    <dgm:pt modelId="{5389673C-6D57-4033-8EBF-6167DCDBABB5}" type="sibTrans" cxnId="{ABD3C194-0B35-4A42-A314-BDECA1069AA0}">
      <dgm:prSet/>
      <dgm:spPr/>
      <dgm:t>
        <a:bodyPr/>
        <a:lstStyle/>
        <a:p>
          <a:endParaRPr lang="en-IN"/>
        </a:p>
      </dgm:t>
    </dgm:pt>
    <dgm:pt modelId="{099B8347-BAFF-4BDD-B543-19E184D0498C}" type="pres">
      <dgm:prSet presAssocID="{17033903-B6B9-415D-B9DC-EBF6685E8DDD}" presName="linear" presStyleCnt="0">
        <dgm:presLayoutVars>
          <dgm:animLvl val="lvl"/>
          <dgm:resizeHandles val="exact"/>
        </dgm:presLayoutVars>
      </dgm:prSet>
      <dgm:spPr/>
    </dgm:pt>
    <dgm:pt modelId="{635C93F3-A0C4-4DC4-BA83-39C1EFF5CF9D}" type="pres">
      <dgm:prSet presAssocID="{25912B9E-9287-413D-B797-E4753F0B7B36}" presName="parentText" presStyleLbl="node1" presStyleIdx="0" presStyleCnt="2" custLinFactNeighborX="17463" custLinFactNeighborY="-28636">
        <dgm:presLayoutVars>
          <dgm:chMax val="0"/>
          <dgm:bulletEnabled val="1"/>
        </dgm:presLayoutVars>
      </dgm:prSet>
      <dgm:spPr/>
    </dgm:pt>
    <dgm:pt modelId="{BD94AB70-D4D0-43EF-8864-2CFF4A506FC6}" type="pres">
      <dgm:prSet presAssocID="{B0533820-9BAB-4717-AB0E-D85CCDD3D6BA}" presName="spacer" presStyleCnt="0"/>
      <dgm:spPr/>
    </dgm:pt>
    <dgm:pt modelId="{BFB7A3C8-C5DF-40FC-A09B-77908A60E666}" type="pres">
      <dgm:prSet presAssocID="{B23F2040-4DAB-42DA-935A-5C7DC07924D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33651524-8379-4E49-A55A-554EBC6A9062}" type="presOf" srcId="{25912B9E-9287-413D-B797-E4753F0B7B36}" destId="{635C93F3-A0C4-4DC4-BA83-39C1EFF5CF9D}" srcOrd="0" destOrd="0" presId="urn:microsoft.com/office/officeart/2005/8/layout/vList2"/>
    <dgm:cxn modelId="{D060AC3A-F623-46E1-AF7D-8667A273B682}" type="presOf" srcId="{B23F2040-4DAB-42DA-935A-5C7DC07924D1}" destId="{BFB7A3C8-C5DF-40FC-A09B-77908A60E666}" srcOrd="0" destOrd="0" presId="urn:microsoft.com/office/officeart/2005/8/layout/vList2"/>
    <dgm:cxn modelId="{2C4B2677-716D-47CF-B3BE-65E0FA81DCC9}" type="presOf" srcId="{17033903-B6B9-415D-B9DC-EBF6685E8DDD}" destId="{099B8347-BAFF-4BDD-B543-19E184D0498C}" srcOrd="0" destOrd="0" presId="urn:microsoft.com/office/officeart/2005/8/layout/vList2"/>
    <dgm:cxn modelId="{ABD3C194-0B35-4A42-A314-BDECA1069AA0}" srcId="{17033903-B6B9-415D-B9DC-EBF6685E8DDD}" destId="{B23F2040-4DAB-42DA-935A-5C7DC07924D1}" srcOrd="1" destOrd="0" parTransId="{1EDA49E0-37EA-4DC7-AFB0-6BC117199976}" sibTransId="{5389673C-6D57-4033-8EBF-6167DCDBABB5}"/>
    <dgm:cxn modelId="{DC1FC7AB-0185-45EF-B4AB-9C3D36957F37}" srcId="{17033903-B6B9-415D-B9DC-EBF6685E8DDD}" destId="{25912B9E-9287-413D-B797-E4753F0B7B36}" srcOrd="0" destOrd="0" parTransId="{44BA614F-177C-449F-82A9-BBD2806C5859}" sibTransId="{B0533820-9BAB-4717-AB0E-D85CCDD3D6BA}"/>
    <dgm:cxn modelId="{4B26A2AA-86E7-490F-8425-693CFC9C45B4}" type="presParOf" srcId="{099B8347-BAFF-4BDD-B543-19E184D0498C}" destId="{635C93F3-A0C4-4DC4-BA83-39C1EFF5CF9D}" srcOrd="0" destOrd="0" presId="urn:microsoft.com/office/officeart/2005/8/layout/vList2"/>
    <dgm:cxn modelId="{C0E1F5A2-CEA3-45B4-9591-49F9D9B30A04}" type="presParOf" srcId="{099B8347-BAFF-4BDD-B543-19E184D0498C}" destId="{BD94AB70-D4D0-43EF-8864-2CFF4A506FC6}" srcOrd="1" destOrd="0" presId="urn:microsoft.com/office/officeart/2005/8/layout/vList2"/>
    <dgm:cxn modelId="{0ED8C0A6-7F77-4F00-8237-8F5D396313C4}" type="presParOf" srcId="{099B8347-BAFF-4BDD-B543-19E184D0498C}" destId="{BFB7A3C8-C5DF-40FC-A09B-77908A60E66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A91815D-F78C-4320-BB27-3099E1141C40}" type="doc">
      <dgm:prSet loTypeId="urn:microsoft.com/office/officeart/2005/8/layout/target3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6234232-87C5-4DA7-91FC-A60C7E72EC9C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0" i="0" baseline="0" dirty="0"/>
            <a:t>Focus more on </a:t>
          </a:r>
          <a:r>
            <a:rPr lang="en-US" sz="1800" b="1" i="0" baseline="0" dirty="0"/>
            <a:t>high-revenue categories and top-performing countries</a:t>
          </a:r>
          <a:r>
            <a:rPr lang="en-US" sz="1800" b="0" i="0" baseline="0" dirty="0"/>
            <a:t> to maximize growth.</a:t>
          </a:r>
          <a:endParaRPr lang="en-IN" sz="1800" dirty="0"/>
        </a:p>
      </dgm:t>
    </dgm:pt>
    <dgm:pt modelId="{65D3CECE-A76B-4F71-B6AF-963DB9A847F2}" type="parTrans" cxnId="{AB38E21C-4599-45CA-A08C-A4EFE20C9F6B}">
      <dgm:prSet/>
      <dgm:spPr/>
      <dgm:t>
        <a:bodyPr/>
        <a:lstStyle/>
        <a:p>
          <a:endParaRPr lang="en-IN"/>
        </a:p>
      </dgm:t>
    </dgm:pt>
    <dgm:pt modelId="{664AF5A1-1058-48BA-A583-73F0E63B7924}" type="sibTrans" cxnId="{AB38E21C-4599-45CA-A08C-A4EFE20C9F6B}">
      <dgm:prSet/>
      <dgm:spPr/>
      <dgm:t>
        <a:bodyPr/>
        <a:lstStyle/>
        <a:p>
          <a:endParaRPr lang="en-IN"/>
        </a:p>
      </dgm:t>
    </dgm:pt>
    <dgm:pt modelId="{72B9B668-9632-4567-8F93-208ABCCB8847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b="1" dirty="0"/>
            <a:t>Reduce excess inventory</a:t>
          </a:r>
          <a:r>
            <a:rPr lang="en-US" sz="1800" dirty="0"/>
            <a:t> for low-selling products and improve stock planning.</a:t>
          </a:r>
          <a:endParaRPr lang="en-IN" sz="1800" dirty="0"/>
        </a:p>
      </dgm:t>
    </dgm:pt>
    <dgm:pt modelId="{3E2B6B40-68BA-40E6-9AF6-18BE7CEA22DA}" type="parTrans" cxnId="{3300F4F2-3FB1-44FD-BCE4-8732B71B545A}">
      <dgm:prSet/>
      <dgm:spPr/>
      <dgm:t>
        <a:bodyPr/>
        <a:lstStyle/>
        <a:p>
          <a:endParaRPr lang="en-IN"/>
        </a:p>
      </dgm:t>
    </dgm:pt>
    <dgm:pt modelId="{8B8694C1-5C6A-48CD-82B9-7938301DA2F0}" type="sibTrans" cxnId="{3300F4F2-3FB1-44FD-BCE4-8732B71B545A}">
      <dgm:prSet/>
      <dgm:spPr/>
      <dgm:t>
        <a:bodyPr/>
        <a:lstStyle/>
        <a:p>
          <a:endParaRPr lang="en-IN"/>
        </a:p>
      </dgm:t>
    </dgm:pt>
    <dgm:pt modelId="{FB0B9178-824D-4FCD-9FD6-C96365F56CD7}">
      <dgm:prSet cust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800" dirty="0"/>
            <a:t>Strengthen relationships with </a:t>
          </a:r>
          <a:r>
            <a:rPr lang="en-US" sz="1800" b="1" dirty="0"/>
            <a:t>key suppliers</a:t>
          </a:r>
          <a:r>
            <a:rPr lang="en-US" sz="1800" dirty="0"/>
            <a:t> who provide more products and consistent supply.</a:t>
          </a:r>
          <a:endParaRPr lang="en-IN" sz="1800" dirty="0"/>
        </a:p>
      </dgm:t>
    </dgm:pt>
    <dgm:pt modelId="{F0BC196B-6ED5-4FA1-B50B-E9E62E021C04}" type="parTrans" cxnId="{D1619D5D-FE1A-4FF1-8CED-EB13D5A9BD2C}">
      <dgm:prSet/>
      <dgm:spPr/>
      <dgm:t>
        <a:bodyPr/>
        <a:lstStyle/>
        <a:p>
          <a:endParaRPr lang="en-IN"/>
        </a:p>
      </dgm:t>
    </dgm:pt>
    <dgm:pt modelId="{154AD17D-F03E-4E5E-856A-70CC90259C34}" type="sibTrans" cxnId="{D1619D5D-FE1A-4FF1-8CED-EB13D5A9BD2C}">
      <dgm:prSet/>
      <dgm:spPr/>
      <dgm:t>
        <a:bodyPr/>
        <a:lstStyle/>
        <a:p>
          <a:endParaRPr lang="en-IN"/>
        </a:p>
      </dgm:t>
    </dgm:pt>
    <dgm:pt modelId="{ECBC7722-6370-4EE6-9D8B-2275BCB5B465}" type="pres">
      <dgm:prSet presAssocID="{EA91815D-F78C-4320-BB27-3099E1141C4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D5449A6E-E232-4E10-901D-FDE190601EAB}" type="pres">
      <dgm:prSet presAssocID="{A6234232-87C5-4DA7-91FC-A60C7E72EC9C}" presName="circle1" presStyleLbl="node1" presStyleIdx="0" presStyleCnt="3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</dgm:pt>
    <dgm:pt modelId="{4AF533A2-3EF9-4647-968F-39559E570187}" type="pres">
      <dgm:prSet presAssocID="{A6234232-87C5-4DA7-91FC-A60C7E72EC9C}" presName="space" presStyleCnt="0"/>
      <dgm:spPr/>
    </dgm:pt>
    <dgm:pt modelId="{9313563D-A71A-4998-A011-EE46AF205B46}" type="pres">
      <dgm:prSet presAssocID="{A6234232-87C5-4DA7-91FC-A60C7E72EC9C}" presName="rect1" presStyleLbl="alignAcc1" presStyleIdx="0" presStyleCnt="3" custLinFactNeighborY="7282"/>
      <dgm:spPr/>
    </dgm:pt>
    <dgm:pt modelId="{59C8217B-86FF-43F3-8714-73F5665F88AF}" type="pres">
      <dgm:prSet presAssocID="{72B9B668-9632-4567-8F93-208ABCCB8847}" presName="vertSpace2" presStyleLbl="node1" presStyleIdx="0" presStyleCnt="3"/>
      <dgm:spPr/>
    </dgm:pt>
    <dgm:pt modelId="{4B4331BF-0397-401F-984C-94AE4B96B2BC}" type="pres">
      <dgm:prSet presAssocID="{72B9B668-9632-4567-8F93-208ABCCB8847}" presName="circle2" presStyleLbl="node1" presStyleIdx="1" presStyleCnt="3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</dgm:pt>
    <dgm:pt modelId="{7CF99632-74CF-4D28-A586-44E47E3AE324}" type="pres">
      <dgm:prSet presAssocID="{72B9B668-9632-4567-8F93-208ABCCB8847}" presName="rect2" presStyleLbl="alignAcc1" presStyleIdx="1" presStyleCnt="3"/>
      <dgm:spPr/>
    </dgm:pt>
    <dgm:pt modelId="{61A68CDA-9AED-4E75-B94D-417F647CB351}" type="pres">
      <dgm:prSet presAssocID="{FB0B9178-824D-4FCD-9FD6-C96365F56CD7}" presName="vertSpace3" presStyleLbl="node1" presStyleIdx="1" presStyleCnt="3"/>
      <dgm:spPr/>
    </dgm:pt>
    <dgm:pt modelId="{0C08BEAD-8506-4BDB-81F7-D3B0EB881A3A}" type="pres">
      <dgm:prSet presAssocID="{FB0B9178-824D-4FCD-9FD6-C96365F56CD7}" presName="circle3" presStyleLbl="node1" presStyleIdx="2" presStyleCnt="3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</dgm:pt>
    <dgm:pt modelId="{E284B1F9-7616-4F6D-8E58-B26B7B4DD1F9}" type="pres">
      <dgm:prSet presAssocID="{FB0B9178-824D-4FCD-9FD6-C96365F56CD7}" presName="rect3" presStyleLbl="alignAcc1" presStyleIdx="2" presStyleCnt="3"/>
      <dgm:spPr/>
    </dgm:pt>
    <dgm:pt modelId="{B586CAD2-5804-4AE1-A6DF-34BBB9187CA2}" type="pres">
      <dgm:prSet presAssocID="{A6234232-87C5-4DA7-91FC-A60C7E72EC9C}" presName="rect1ParTxNoCh" presStyleLbl="alignAcc1" presStyleIdx="2" presStyleCnt="3">
        <dgm:presLayoutVars>
          <dgm:chMax val="1"/>
          <dgm:bulletEnabled val="1"/>
        </dgm:presLayoutVars>
      </dgm:prSet>
      <dgm:spPr/>
    </dgm:pt>
    <dgm:pt modelId="{A35E93C3-9C1B-45C1-B32E-84A3E68FB2A4}" type="pres">
      <dgm:prSet presAssocID="{72B9B668-9632-4567-8F93-208ABCCB8847}" presName="rect2ParTxNoCh" presStyleLbl="alignAcc1" presStyleIdx="2" presStyleCnt="3">
        <dgm:presLayoutVars>
          <dgm:chMax val="1"/>
          <dgm:bulletEnabled val="1"/>
        </dgm:presLayoutVars>
      </dgm:prSet>
      <dgm:spPr/>
    </dgm:pt>
    <dgm:pt modelId="{A76B8E06-D84A-4BCB-8BF9-F005F4260F9C}" type="pres">
      <dgm:prSet presAssocID="{FB0B9178-824D-4FCD-9FD6-C96365F56CD7}" presName="rect3ParTxNoCh" presStyleLbl="alignAcc1" presStyleIdx="2" presStyleCnt="3">
        <dgm:presLayoutVars>
          <dgm:chMax val="1"/>
          <dgm:bulletEnabled val="1"/>
        </dgm:presLayoutVars>
      </dgm:prSet>
      <dgm:spPr/>
    </dgm:pt>
  </dgm:ptLst>
  <dgm:cxnLst>
    <dgm:cxn modelId="{04818F17-26BA-4616-943E-D98993793097}" type="presOf" srcId="{72B9B668-9632-4567-8F93-208ABCCB8847}" destId="{A35E93C3-9C1B-45C1-B32E-84A3E68FB2A4}" srcOrd="1" destOrd="0" presId="urn:microsoft.com/office/officeart/2005/8/layout/target3"/>
    <dgm:cxn modelId="{AB38E21C-4599-45CA-A08C-A4EFE20C9F6B}" srcId="{EA91815D-F78C-4320-BB27-3099E1141C40}" destId="{A6234232-87C5-4DA7-91FC-A60C7E72EC9C}" srcOrd="0" destOrd="0" parTransId="{65D3CECE-A76B-4F71-B6AF-963DB9A847F2}" sibTransId="{664AF5A1-1058-48BA-A583-73F0E63B7924}"/>
    <dgm:cxn modelId="{C1A1271F-C951-4B70-AAB2-09AA5B253FFB}" type="presOf" srcId="{72B9B668-9632-4567-8F93-208ABCCB8847}" destId="{7CF99632-74CF-4D28-A586-44E47E3AE324}" srcOrd="0" destOrd="0" presId="urn:microsoft.com/office/officeart/2005/8/layout/target3"/>
    <dgm:cxn modelId="{D1619D5D-FE1A-4FF1-8CED-EB13D5A9BD2C}" srcId="{EA91815D-F78C-4320-BB27-3099E1141C40}" destId="{FB0B9178-824D-4FCD-9FD6-C96365F56CD7}" srcOrd="2" destOrd="0" parTransId="{F0BC196B-6ED5-4FA1-B50B-E9E62E021C04}" sibTransId="{154AD17D-F03E-4E5E-856A-70CC90259C34}"/>
    <dgm:cxn modelId="{ED43F371-336B-4DD0-83A0-4357039A4F0F}" type="presOf" srcId="{EA91815D-F78C-4320-BB27-3099E1141C40}" destId="{ECBC7722-6370-4EE6-9D8B-2275BCB5B465}" srcOrd="0" destOrd="0" presId="urn:microsoft.com/office/officeart/2005/8/layout/target3"/>
    <dgm:cxn modelId="{1CB1A6A5-E9EC-4DB6-8402-294B649406F9}" type="presOf" srcId="{FB0B9178-824D-4FCD-9FD6-C96365F56CD7}" destId="{E284B1F9-7616-4F6D-8E58-B26B7B4DD1F9}" srcOrd="0" destOrd="0" presId="urn:microsoft.com/office/officeart/2005/8/layout/target3"/>
    <dgm:cxn modelId="{382026B3-F0F7-42C3-967C-F64395BF97D9}" type="presOf" srcId="{A6234232-87C5-4DA7-91FC-A60C7E72EC9C}" destId="{B586CAD2-5804-4AE1-A6DF-34BBB9187CA2}" srcOrd="1" destOrd="0" presId="urn:microsoft.com/office/officeart/2005/8/layout/target3"/>
    <dgm:cxn modelId="{F7B370DC-E273-44DE-A912-53F9F8508748}" type="presOf" srcId="{A6234232-87C5-4DA7-91FC-A60C7E72EC9C}" destId="{9313563D-A71A-4998-A011-EE46AF205B46}" srcOrd="0" destOrd="0" presId="urn:microsoft.com/office/officeart/2005/8/layout/target3"/>
    <dgm:cxn modelId="{3300F4F2-3FB1-44FD-BCE4-8732B71B545A}" srcId="{EA91815D-F78C-4320-BB27-3099E1141C40}" destId="{72B9B668-9632-4567-8F93-208ABCCB8847}" srcOrd="1" destOrd="0" parTransId="{3E2B6B40-68BA-40E6-9AF6-18BE7CEA22DA}" sibTransId="{8B8694C1-5C6A-48CD-82B9-7938301DA2F0}"/>
    <dgm:cxn modelId="{0E5A05F9-1723-467A-BA4D-BB44335518A8}" type="presOf" srcId="{FB0B9178-824D-4FCD-9FD6-C96365F56CD7}" destId="{A76B8E06-D84A-4BCB-8BF9-F005F4260F9C}" srcOrd="1" destOrd="0" presId="urn:microsoft.com/office/officeart/2005/8/layout/target3"/>
    <dgm:cxn modelId="{685F5612-E67F-4F09-9666-320FD15CAED9}" type="presParOf" srcId="{ECBC7722-6370-4EE6-9D8B-2275BCB5B465}" destId="{D5449A6E-E232-4E10-901D-FDE190601EAB}" srcOrd="0" destOrd="0" presId="urn:microsoft.com/office/officeart/2005/8/layout/target3"/>
    <dgm:cxn modelId="{1E38516D-10E4-443C-982C-1146D5126BE9}" type="presParOf" srcId="{ECBC7722-6370-4EE6-9D8B-2275BCB5B465}" destId="{4AF533A2-3EF9-4647-968F-39559E570187}" srcOrd="1" destOrd="0" presId="urn:microsoft.com/office/officeart/2005/8/layout/target3"/>
    <dgm:cxn modelId="{D091FDDD-99F1-4EDE-B7B1-C6E5EBEBD47B}" type="presParOf" srcId="{ECBC7722-6370-4EE6-9D8B-2275BCB5B465}" destId="{9313563D-A71A-4998-A011-EE46AF205B46}" srcOrd="2" destOrd="0" presId="urn:microsoft.com/office/officeart/2005/8/layout/target3"/>
    <dgm:cxn modelId="{6F6DF66C-8C51-4F42-A04C-7D0D567D535C}" type="presParOf" srcId="{ECBC7722-6370-4EE6-9D8B-2275BCB5B465}" destId="{59C8217B-86FF-43F3-8714-73F5665F88AF}" srcOrd="3" destOrd="0" presId="urn:microsoft.com/office/officeart/2005/8/layout/target3"/>
    <dgm:cxn modelId="{D51B3EF5-C036-4855-A416-5B5D032FC348}" type="presParOf" srcId="{ECBC7722-6370-4EE6-9D8B-2275BCB5B465}" destId="{4B4331BF-0397-401F-984C-94AE4B96B2BC}" srcOrd="4" destOrd="0" presId="urn:microsoft.com/office/officeart/2005/8/layout/target3"/>
    <dgm:cxn modelId="{68779B50-2C66-4423-B732-1C403FC18D1F}" type="presParOf" srcId="{ECBC7722-6370-4EE6-9D8B-2275BCB5B465}" destId="{7CF99632-74CF-4D28-A586-44E47E3AE324}" srcOrd="5" destOrd="0" presId="urn:microsoft.com/office/officeart/2005/8/layout/target3"/>
    <dgm:cxn modelId="{22A9217A-6063-492C-88B5-C146236F23C9}" type="presParOf" srcId="{ECBC7722-6370-4EE6-9D8B-2275BCB5B465}" destId="{61A68CDA-9AED-4E75-B94D-417F647CB351}" srcOrd="6" destOrd="0" presId="urn:microsoft.com/office/officeart/2005/8/layout/target3"/>
    <dgm:cxn modelId="{16CEAB7E-2B31-4380-BFE3-D65A54B4E5EC}" type="presParOf" srcId="{ECBC7722-6370-4EE6-9D8B-2275BCB5B465}" destId="{0C08BEAD-8506-4BDB-81F7-D3B0EB881A3A}" srcOrd="7" destOrd="0" presId="urn:microsoft.com/office/officeart/2005/8/layout/target3"/>
    <dgm:cxn modelId="{A239525A-1016-479A-B1A1-17B7A6F050B9}" type="presParOf" srcId="{ECBC7722-6370-4EE6-9D8B-2275BCB5B465}" destId="{E284B1F9-7616-4F6D-8E58-B26B7B4DD1F9}" srcOrd="8" destOrd="0" presId="urn:microsoft.com/office/officeart/2005/8/layout/target3"/>
    <dgm:cxn modelId="{D6EDAFAE-6559-4A2F-A80F-D66BEBFCADD8}" type="presParOf" srcId="{ECBC7722-6370-4EE6-9D8B-2275BCB5B465}" destId="{B586CAD2-5804-4AE1-A6DF-34BBB9187CA2}" srcOrd="9" destOrd="0" presId="urn:microsoft.com/office/officeart/2005/8/layout/target3"/>
    <dgm:cxn modelId="{C070DC31-02EE-4000-9C2B-B5494FC98B41}" type="presParOf" srcId="{ECBC7722-6370-4EE6-9D8B-2275BCB5B465}" destId="{A35E93C3-9C1B-45C1-B32E-84A3E68FB2A4}" srcOrd="10" destOrd="0" presId="urn:microsoft.com/office/officeart/2005/8/layout/target3"/>
    <dgm:cxn modelId="{4862E943-3F09-406E-BB61-A3528AEFDF32}" type="presParOf" srcId="{ECBC7722-6370-4EE6-9D8B-2275BCB5B465}" destId="{A76B8E06-D84A-4BCB-8BF9-F005F4260F9C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432EF48-7E0E-4E7A-A4A1-25B94255E737}" type="doc">
      <dgm:prSet loTypeId="urn:microsoft.com/office/officeart/2005/8/layout/arrow6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26778BD-886F-4B73-A2B5-F814566A6DCA}">
      <dgm:prSet/>
      <dgm:spPr/>
      <dgm:t>
        <a:bodyPr/>
        <a:lstStyle/>
        <a:p>
          <a:r>
            <a:rPr lang="en-US" b="0" i="0" baseline="0" dirty="0">
              <a:solidFill>
                <a:schemeClr val="tx1"/>
              </a:solidFill>
            </a:rPr>
            <a:t>Built an end-to-end Power BI dashboard covering sales, customers, inventory, and suppliers</a:t>
          </a:r>
          <a:endParaRPr lang="en-IN" dirty="0">
            <a:solidFill>
              <a:schemeClr val="tx1"/>
            </a:solidFill>
          </a:endParaRPr>
        </a:p>
      </dgm:t>
    </dgm:pt>
    <dgm:pt modelId="{394336E3-7AE4-468C-ACB6-49B335974D29}" type="parTrans" cxnId="{FB7607B1-173F-4EBF-B7F3-A98C4ABBB7FB}">
      <dgm:prSet/>
      <dgm:spPr/>
      <dgm:t>
        <a:bodyPr/>
        <a:lstStyle/>
        <a:p>
          <a:endParaRPr lang="en-IN"/>
        </a:p>
      </dgm:t>
    </dgm:pt>
    <dgm:pt modelId="{03196784-EFDF-408A-92D2-A6B2D11FA7DC}" type="sibTrans" cxnId="{FB7607B1-173F-4EBF-B7F3-A98C4ABBB7FB}">
      <dgm:prSet/>
      <dgm:spPr/>
      <dgm:t>
        <a:bodyPr/>
        <a:lstStyle/>
        <a:p>
          <a:endParaRPr lang="en-IN"/>
        </a:p>
      </dgm:t>
    </dgm:pt>
    <dgm:pt modelId="{48BD92E1-71CC-4293-87B3-FBBEBBD5E22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Converted raw data into clear insights to support business decisions</a:t>
          </a:r>
          <a:endParaRPr lang="en-IN" dirty="0">
            <a:solidFill>
              <a:schemeClr val="tx1"/>
            </a:solidFill>
          </a:endParaRPr>
        </a:p>
      </dgm:t>
    </dgm:pt>
    <dgm:pt modelId="{F40321A9-A129-41C4-9732-6B30F606B8EA}" type="parTrans" cxnId="{D4926306-9324-41C7-AAFD-AC28968D8183}">
      <dgm:prSet/>
      <dgm:spPr/>
      <dgm:t>
        <a:bodyPr/>
        <a:lstStyle/>
        <a:p>
          <a:endParaRPr lang="en-IN"/>
        </a:p>
      </dgm:t>
    </dgm:pt>
    <dgm:pt modelId="{D17AE0F7-0EDE-4BE9-B0BA-0ABE036F6005}" type="sibTrans" cxnId="{D4926306-9324-41C7-AAFD-AC28968D8183}">
      <dgm:prSet/>
      <dgm:spPr/>
      <dgm:t>
        <a:bodyPr/>
        <a:lstStyle/>
        <a:p>
          <a:endParaRPr lang="en-IN"/>
        </a:p>
      </dgm:t>
    </dgm:pt>
    <dgm:pt modelId="{CB2C2A9C-2B78-483C-854E-85F8F12B6AB1}" type="pres">
      <dgm:prSet presAssocID="{5432EF48-7E0E-4E7A-A4A1-25B94255E737}" presName="compositeShape" presStyleCnt="0">
        <dgm:presLayoutVars>
          <dgm:chMax val="2"/>
          <dgm:dir/>
          <dgm:resizeHandles val="exact"/>
        </dgm:presLayoutVars>
      </dgm:prSet>
      <dgm:spPr/>
    </dgm:pt>
    <dgm:pt modelId="{7485B2AC-1A3B-4EDB-8309-238DA18155F4}" type="pres">
      <dgm:prSet presAssocID="{5432EF48-7E0E-4E7A-A4A1-25B94255E737}" presName="ribbon" presStyleLbl="node1" presStyleIdx="0" presStyleCnt="1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</dgm:pt>
    <dgm:pt modelId="{8325576D-2B54-427B-B502-E39BE06EDC7E}" type="pres">
      <dgm:prSet presAssocID="{5432EF48-7E0E-4E7A-A4A1-25B94255E737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7509AE9F-4703-4AA0-87BC-EF67AB79A206}" type="pres">
      <dgm:prSet presAssocID="{5432EF48-7E0E-4E7A-A4A1-25B94255E737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4926306-9324-41C7-AAFD-AC28968D8183}" srcId="{5432EF48-7E0E-4E7A-A4A1-25B94255E737}" destId="{48BD92E1-71CC-4293-87B3-FBBEBBD5E224}" srcOrd="1" destOrd="0" parTransId="{F40321A9-A129-41C4-9732-6B30F606B8EA}" sibTransId="{D17AE0F7-0EDE-4BE9-B0BA-0ABE036F6005}"/>
    <dgm:cxn modelId="{B506E997-0A54-4235-AF8A-CE42E5A2178B}" type="presOf" srcId="{48BD92E1-71CC-4293-87B3-FBBEBBD5E224}" destId="{7509AE9F-4703-4AA0-87BC-EF67AB79A206}" srcOrd="0" destOrd="0" presId="urn:microsoft.com/office/officeart/2005/8/layout/arrow6"/>
    <dgm:cxn modelId="{FB7607B1-173F-4EBF-B7F3-A98C4ABBB7FB}" srcId="{5432EF48-7E0E-4E7A-A4A1-25B94255E737}" destId="{B26778BD-886F-4B73-A2B5-F814566A6DCA}" srcOrd="0" destOrd="0" parTransId="{394336E3-7AE4-468C-ACB6-49B335974D29}" sibTransId="{03196784-EFDF-408A-92D2-A6B2D11FA7DC}"/>
    <dgm:cxn modelId="{E338B4BD-3A15-4996-ADFD-D493263A9E93}" type="presOf" srcId="{B26778BD-886F-4B73-A2B5-F814566A6DCA}" destId="{8325576D-2B54-427B-B502-E39BE06EDC7E}" srcOrd="0" destOrd="0" presId="urn:microsoft.com/office/officeart/2005/8/layout/arrow6"/>
    <dgm:cxn modelId="{D0C72FFB-7D2E-49A5-8393-8D00D41E9619}" type="presOf" srcId="{5432EF48-7E0E-4E7A-A4A1-25B94255E737}" destId="{CB2C2A9C-2B78-483C-854E-85F8F12B6AB1}" srcOrd="0" destOrd="0" presId="urn:microsoft.com/office/officeart/2005/8/layout/arrow6"/>
    <dgm:cxn modelId="{5F6462A8-E355-42BA-91C3-408F4088B0A9}" type="presParOf" srcId="{CB2C2A9C-2B78-483C-854E-85F8F12B6AB1}" destId="{7485B2AC-1A3B-4EDB-8309-238DA18155F4}" srcOrd="0" destOrd="0" presId="urn:microsoft.com/office/officeart/2005/8/layout/arrow6"/>
    <dgm:cxn modelId="{739D2578-C412-4CA6-B567-5F4D394A9034}" type="presParOf" srcId="{CB2C2A9C-2B78-483C-854E-85F8F12B6AB1}" destId="{8325576D-2B54-427B-B502-E39BE06EDC7E}" srcOrd="1" destOrd="0" presId="urn:microsoft.com/office/officeart/2005/8/layout/arrow6"/>
    <dgm:cxn modelId="{01365C09-D61F-4450-B635-2261CC331560}" type="presParOf" srcId="{CB2C2A9C-2B78-483C-854E-85F8F12B6AB1}" destId="{7509AE9F-4703-4AA0-87BC-EF67AB79A206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B18BEA-5D01-4FD9-9D0C-62E5011F2B37}">
      <dsp:nvSpPr>
        <dsp:cNvPr id="0" name=""/>
        <dsp:cNvSpPr/>
      </dsp:nvSpPr>
      <dsp:spPr>
        <a:xfrm>
          <a:off x="0" y="18144"/>
          <a:ext cx="8326012" cy="41184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Overall revenue trend is positive</a:t>
          </a:r>
          <a:r>
            <a:rPr lang="en-US" sz="1600" kern="1200" dirty="0"/>
            <a:t>, with noticeable acceleration in later periods.</a:t>
          </a:r>
          <a:endParaRPr lang="en-IN" sz="1600" kern="1200" dirty="0"/>
        </a:p>
      </dsp:txBody>
      <dsp:txXfrm>
        <a:off x="20104" y="38248"/>
        <a:ext cx="8285804" cy="371632"/>
      </dsp:txXfrm>
    </dsp:sp>
    <dsp:sp modelId="{9BE90E48-677F-466F-A0C1-82620612BC07}">
      <dsp:nvSpPr>
        <dsp:cNvPr id="0" name=""/>
        <dsp:cNvSpPr/>
      </dsp:nvSpPr>
      <dsp:spPr>
        <a:xfrm>
          <a:off x="0" y="493345"/>
          <a:ext cx="8326012" cy="41184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Month-to-month variability exists</a:t>
          </a:r>
          <a:r>
            <a:rPr lang="en-US" sz="1600" kern="1200" dirty="0"/>
            <a:t>, but the long-term trajectory remains strong.</a:t>
          </a:r>
          <a:endParaRPr lang="en-IN" sz="1600" kern="1200" dirty="0"/>
        </a:p>
      </dsp:txBody>
      <dsp:txXfrm>
        <a:off x="20104" y="513449"/>
        <a:ext cx="8285804" cy="3716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FFE029-E403-4FD8-9A28-CA030CCAD0F0}">
      <dsp:nvSpPr>
        <dsp:cNvPr id="0" name=""/>
        <dsp:cNvSpPr/>
      </dsp:nvSpPr>
      <dsp:spPr>
        <a:xfrm>
          <a:off x="0" y="477"/>
          <a:ext cx="7939549" cy="592929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Sales are heavily driven by Beverages and Dairy Products</a:t>
          </a:r>
          <a:r>
            <a:rPr lang="en-US" sz="1600" b="0" i="0" kern="1200" baseline="0" dirty="0"/>
            <a:t>, making them key focus areas for revenue growth.</a:t>
          </a:r>
          <a:endParaRPr lang="en-IN" sz="1600" kern="1200" dirty="0"/>
        </a:p>
      </dsp:txBody>
      <dsp:txXfrm>
        <a:off x="28944" y="29421"/>
        <a:ext cx="7881661" cy="535041"/>
      </dsp:txXfrm>
    </dsp:sp>
    <dsp:sp modelId="{3250D139-813F-4EFE-8B1A-314CDA5D075E}">
      <dsp:nvSpPr>
        <dsp:cNvPr id="0" name=""/>
        <dsp:cNvSpPr/>
      </dsp:nvSpPr>
      <dsp:spPr>
        <a:xfrm>
          <a:off x="0" y="607399"/>
          <a:ext cx="7939549" cy="592929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Lower-revenue categories may benefit from targeted promotions.</a:t>
          </a:r>
          <a:endParaRPr lang="en-IN" sz="1600" kern="1200" dirty="0"/>
        </a:p>
      </dsp:txBody>
      <dsp:txXfrm>
        <a:off x="28944" y="636343"/>
        <a:ext cx="7881661" cy="5350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66D38-FF91-4BAE-B528-0474B6D817D9}">
      <dsp:nvSpPr>
        <dsp:cNvPr id="0" name=""/>
        <dsp:cNvSpPr/>
      </dsp:nvSpPr>
      <dsp:spPr>
        <a:xfrm>
          <a:off x="0" y="15524"/>
          <a:ext cx="8229600" cy="54288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Out-of-stock items can directly impact sales and customer experience.</a:t>
          </a:r>
          <a:endParaRPr lang="en-IN" sz="1600" kern="1200" dirty="0"/>
        </a:p>
      </dsp:txBody>
      <dsp:txXfrm>
        <a:off x="26501" y="42025"/>
        <a:ext cx="8176598" cy="489878"/>
      </dsp:txXfrm>
    </dsp:sp>
    <dsp:sp modelId="{99D947A1-5821-408A-806F-753BDEB51BF3}">
      <dsp:nvSpPr>
        <dsp:cNvPr id="0" name=""/>
        <dsp:cNvSpPr/>
      </dsp:nvSpPr>
      <dsp:spPr>
        <a:xfrm>
          <a:off x="0" y="641924"/>
          <a:ext cx="8229600" cy="54288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Low-stock items show that replenishment is in progress but needs close monitoring.</a:t>
          </a:r>
          <a:endParaRPr lang="en-IN" sz="1600" kern="1200" dirty="0"/>
        </a:p>
      </dsp:txBody>
      <dsp:txXfrm>
        <a:off x="26501" y="668425"/>
        <a:ext cx="8176598" cy="4898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90B03-68F2-4B4D-9FCE-6CE5C4A92A11}">
      <dsp:nvSpPr>
        <dsp:cNvPr id="0" name=""/>
        <dsp:cNvSpPr/>
      </dsp:nvSpPr>
      <dsp:spPr>
        <a:xfrm>
          <a:off x="0" y="18144"/>
          <a:ext cx="7590505" cy="41184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 small group of customers contributes a large share of total revenue.</a:t>
          </a:r>
          <a:endParaRPr lang="en-IN" sz="1600" kern="1200" dirty="0"/>
        </a:p>
      </dsp:txBody>
      <dsp:txXfrm>
        <a:off x="20104" y="38248"/>
        <a:ext cx="7550297" cy="371632"/>
      </dsp:txXfrm>
    </dsp:sp>
    <dsp:sp modelId="{F855976F-6CC0-42B1-B676-D6DD9293001B}">
      <dsp:nvSpPr>
        <dsp:cNvPr id="0" name=""/>
        <dsp:cNvSpPr/>
      </dsp:nvSpPr>
      <dsp:spPr>
        <a:xfrm>
          <a:off x="0" y="493345"/>
          <a:ext cx="7590505" cy="41184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High-value customers are key for retention and repeat business.</a:t>
          </a:r>
          <a:endParaRPr lang="en-IN" sz="1600" kern="1200" dirty="0"/>
        </a:p>
      </dsp:txBody>
      <dsp:txXfrm>
        <a:off x="20104" y="513449"/>
        <a:ext cx="7550297" cy="3716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4AB711-F971-46CC-B0CD-7CA5B83E382C}">
      <dsp:nvSpPr>
        <dsp:cNvPr id="0" name=""/>
        <dsp:cNvSpPr/>
      </dsp:nvSpPr>
      <dsp:spPr>
        <a:xfrm>
          <a:off x="0" y="0"/>
          <a:ext cx="8603227" cy="67392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USA and Germany are the highest revenue-generating countries, showing strong regional performance.</a:t>
          </a:r>
          <a:endParaRPr lang="en-IN" sz="1600" kern="1200" dirty="0"/>
        </a:p>
      </dsp:txBody>
      <dsp:txXfrm>
        <a:off x="32898" y="32898"/>
        <a:ext cx="8537431" cy="608124"/>
      </dsp:txXfrm>
    </dsp:sp>
    <dsp:sp modelId="{C53054DD-2B43-4187-9D01-B8AF63D71E91}">
      <dsp:nvSpPr>
        <dsp:cNvPr id="0" name=""/>
        <dsp:cNvSpPr/>
      </dsp:nvSpPr>
      <dsp:spPr>
        <a:xfrm>
          <a:off x="0" y="803408"/>
          <a:ext cx="8603227" cy="67392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Product supply is spread across multiple suppliers, with a few handling more products than others.</a:t>
          </a:r>
          <a:endParaRPr lang="en-IN" sz="1600" kern="1200" dirty="0"/>
        </a:p>
      </dsp:txBody>
      <dsp:txXfrm>
        <a:off x="32898" y="836306"/>
        <a:ext cx="8537431" cy="6081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0DF41-17F8-44F5-8462-D71F4E68C51B}">
      <dsp:nvSpPr>
        <dsp:cNvPr id="0" name=""/>
        <dsp:cNvSpPr/>
      </dsp:nvSpPr>
      <dsp:spPr>
        <a:xfrm>
          <a:off x="208230" y="239"/>
          <a:ext cx="3432031" cy="2903874"/>
        </a:xfrm>
        <a:prstGeom prst="ellipse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159810" tIns="29210" rIns="1598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 dirty="0"/>
            <a:t>Some products have high stock but low sales, which may lead to excess inventory.</a:t>
          </a:r>
          <a:endParaRPr lang="en-IN" sz="2300" kern="1200" dirty="0"/>
        </a:p>
      </dsp:txBody>
      <dsp:txXfrm>
        <a:off x="710839" y="425502"/>
        <a:ext cx="2426813" cy="2053348"/>
      </dsp:txXfrm>
    </dsp:sp>
    <dsp:sp modelId="{E9BC6154-1D29-48B0-A5C4-E45580FDD420}">
      <dsp:nvSpPr>
        <dsp:cNvPr id="0" name=""/>
        <dsp:cNvSpPr/>
      </dsp:nvSpPr>
      <dsp:spPr>
        <a:xfrm>
          <a:off x="3059486" y="239"/>
          <a:ext cx="3647556" cy="2903874"/>
        </a:xfrm>
        <a:prstGeom prst="ellipse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159810" tIns="29210" rIns="1598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 dirty="0"/>
            <a:t>These insights help in taking action to reduce waste and improve stock management.</a:t>
          </a:r>
          <a:endParaRPr lang="en-IN" sz="2300" kern="1200" dirty="0"/>
        </a:p>
      </dsp:txBody>
      <dsp:txXfrm>
        <a:off x="3593658" y="425502"/>
        <a:ext cx="2579212" cy="20533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C93F3-A0C4-4DC4-BA83-39C1EFF5CF9D}">
      <dsp:nvSpPr>
        <dsp:cNvPr id="0" name=""/>
        <dsp:cNvSpPr/>
      </dsp:nvSpPr>
      <dsp:spPr>
        <a:xfrm>
          <a:off x="0" y="1"/>
          <a:ext cx="5348747" cy="41184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Gives a high-level view of overall business performance</a:t>
          </a:r>
          <a:endParaRPr lang="en-IN" sz="1600" kern="1200" dirty="0"/>
        </a:p>
      </dsp:txBody>
      <dsp:txXfrm>
        <a:off x="20104" y="20105"/>
        <a:ext cx="5308539" cy="371632"/>
      </dsp:txXfrm>
    </dsp:sp>
    <dsp:sp modelId="{BFB7A3C8-C5DF-40FC-A09B-77908A60E666}">
      <dsp:nvSpPr>
        <dsp:cNvPr id="0" name=""/>
        <dsp:cNvSpPr/>
      </dsp:nvSpPr>
      <dsp:spPr>
        <a:xfrm>
          <a:off x="0" y="493345"/>
          <a:ext cx="5348747" cy="411840"/>
        </a:xfrm>
        <a:prstGeom prst="round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Allows easy navigation to detailed analysis pages</a:t>
          </a:r>
          <a:endParaRPr lang="en-IN" sz="1600" kern="1200" dirty="0"/>
        </a:p>
      </dsp:txBody>
      <dsp:txXfrm>
        <a:off x="20104" y="513449"/>
        <a:ext cx="5308539" cy="3716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49A6E-E232-4E10-901D-FDE190601EAB}">
      <dsp:nvSpPr>
        <dsp:cNvPr id="0" name=""/>
        <dsp:cNvSpPr/>
      </dsp:nvSpPr>
      <dsp:spPr>
        <a:xfrm>
          <a:off x="0" y="0"/>
          <a:ext cx="3139122" cy="3139122"/>
        </a:xfrm>
        <a:prstGeom prst="pie">
          <a:avLst>
            <a:gd name="adj1" fmla="val 5400000"/>
            <a:gd name="adj2" fmla="val 16200000"/>
          </a:avLst>
        </a:prstGeom>
        <a:gradFill rotWithShape="1">
          <a:gsLst>
            <a:gs pos="0">
              <a:schemeClr val="dk1">
                <a:tint val="100000"/>
                <a:shade val="100000"/>
                <a:satMod val="130000"/>
              </a:schemeClr>
            </a:gs>
            <a:gs pos="100000">
              <a:schemeClr val="dk1"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>
          <a:bevelT w="63500" h="2540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</dsp:sp>
    <dsp:sp modelId="{9313563D-A71A-4998-A011-EE46AF205B46}">
      <dsp:nvSpPr>
        <dsp:cNvPr id="0" name=""/>
        <dsp:cNvSpPr/>
      </dsp:nvSpPr>
      <dsp:spPr>
        <a:xfrm>
          <a:off x="1569561" y="0"/>
          <a:ext cx="5517039" cy="3139122"/>
        </a:xfrm>
        <a:prstGeom prst="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extrusionH="12700"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Focus more on </a:t>
          </a:r>
          <a:r>
            <a:rPr lang="en-US" sz="1800" b="1" i="0" kern="1200" baseline="0" dirty="0"/>
            <a:t>high-revenue categories and top-performing countries</a:t>
          </a:r>
          <a:r>
            <a:rPr lang="en-US" sz="1800" b="0" i="0" kern="1200" baseline="0" dirty="0"/>
            <a:t> to maximize growth.</a:t>
          </a:r>
          <a:endParaRPr lang="en-IN" sz="1800" kern="1200" dirty="0"/>
        </a:p>
      </dsp:txBody>
      <dsp:txXfrm>
        <a:off x="1569561" y="0"/>
        <a:ext cx="5517039" cy="941738"/>
      </dsp:txXfrm>
    </dsp:sp>
    <dsp:sp modelId="{4B4331BF-0397-401F-984C-94AE4B96B2BC}">
      <dsp:nvSpPr>
        <dsp:cNvPr id="0" name=""/>
        <dsp:cNvSpPr/>
      </dsp:nvSpPr>
      <dsp:spPr>
        <a:xfrm>
          <a:off x="549347" y="941738"/>
          <a:ext cx="2040427" cy="2040427"/>
        </a:xfrm>
        <a:prstGeom prst="pie">
          <a:avLst>
            <a:gd name="adj1" fmla="val 5400000"/>
            <a:gd name="adj2" fmla="val 16200000"/>
          </a:avLst>
        </a:prstGeom>
        <a:gradFill rotWithShape="1">
          <a:gsLst>
            <a:gs pos="0">
              <a:schemeClr val="dk1">
                <a:tint val="100000"/>
                <a:shade val="100000"/>
                <a:satMod val="130000"/>
              </a:schemeClr>
            </a:gs>
            <a:gs pos="100000">
              <a:schemeClr val="dk1"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>
          <a:bevelT w="63500" h="2540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</dsp:sp>
    <dsp:sp modelId="{7CF99632-74CF-4D28-A586-44E47E3AE324}">
      <dsp:nvSpPr>
        <dsp:cNvPr id="0" name=""/>
        <dsp:cNvSpPr/>
      </dsp:nvSpPr>
      <dsp:spPr>
        <a:xfrm>
          <a:off x="1569561" y="941738"/>
          <a:ext cx="5517039" cy="2040427"/>
        </a:xfrm>
        <a:prstGeom prst="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extrusionH="12700"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Reduce excess inventory</a:t>
          </a:r>
          <a:r>
            <a:rPr lang="en-US" sz="1800" kern="1200" dirty="0"/>
            <a:t> for low-selling products and improve stock planning.</a:t>
          </a:r>
          <a:endParaRPr lang="en-IN" sz="1800" kern="1200" dirty="0"/>
        </a:p>
      </dsp:txBody>
      <dsp:txXfrm>
        <a:off x="1569561" y="941738"/>
        <a:ext cx="5517039" cy="941735"/>
      </dsp:txXfrm>
    </dsp:sp>
    <dsp:sp modelId="{0C08BEAD-8506-4BDB-81F7-D3B0EB881A3A}">
      <dsp:nvSpPr>
        <dsp:cNvPr id="0" name=""/>
        <dsp:cNvSpPr/>
      </dsp:nvSpPr>
      <dsp:spPr>
        <a:xfrm>
          <a:off x="1098693" y="1883474"/>
          <a:ext cx="941735" cy="941735"/>
        </a:xfrm>
        <a:prstGeom prst="pie">
          <a:avLst>
            <a:gd name="adj1" fmla="val 5400000"/>
            <a:gd name="adj2" fmla="val 16200000"/>
          </a:avLst>
        </a:prstGeom>
        <a:gradFill rotWithShape="1">
          <a:gsLst>
            <a:gs pos="0">
              <a:schemeClr val="dk1">
                <a:tint val="100000"/>
                <a:shade val="100000"/>
                <a:satMod val="130000"/>
              </a:schemeClr>
            </a:gs>
            <a:gs pos="100000">
              <a:schemeClr val="dk1"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>
          <a:bevelT w="63500" h="2540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</dsp:sp>
    <dsp:sp modelId="{E284B1F9-7616-4F6D-8E58-B26B7B4DD1F9}">
      <dsp:nvSpPr>
        <dsp:cNvPr id="0" name=""/>
        <dsp:cNvSpPr/>
      </dsp:nvSpPr>
      <dsp:spPr>
        <a:xfrm>
          <a:off x="1569561" y="1883474"/>
          <a:ext cx="5517039" cy="941735"/>
        </a:xfrm>
        <a:prstGeom prst="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extrusionH="12700"/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Strengthen relationships with </a:t>
          </a:r>
          <a:r>
            <a:rPr lang="en-US" sz="1800" b="1" kern="1200" dirty="0"/>
            <a:t>key suppliers</a:t>
          </a:r>
          <a:r>
            <a:rPr lang="en-US" sz="1800" kern="1200" dirty="0"/>
            <a:t> who provide more products and consistent supply.</a:t>
          </a:r>
          <a:endParaRPr lang="en-IN" sz="1800" kern="1200" dirty="0"/>
        </a:p>
      </dsp:txBody>
      <dsp:txXfrm>
        <a:off x="1569561" y="1883474"/>
        <a:ext cx="5517039" cy="9417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85B2AC-1A3B-4EDB-8309-238DA18155F4}">
      <dsp:nvSpPr>
        <dsp:cNvPr id="0" name=""/>
        <dsp:cNvSpPr/>
      </dsp:nvSpPr>
      <dsp:spPr>
        <a:xfrm>
          <a:off x="0" y="277367"/>
          <a:ext cx="7376160" cy="2950464"/>
        </a:xfrm>
        <a:prstGeom prst="leftRightRibbon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</dsp:sp>
    <dsp:sp modelId="{8325576D-2B54-427B-B502-E39BE06EDC7E}">
      <dsp:nvSpPr>
        <dsp:cNvPr id="0" name=""/>
        <dsp:cNvSpPr/>
      </dsp:nvSpPr>
      <dsp:spPr>
        <a:xfrm>
          <a:off x="885139" y="793698"/>
          <a:ext cx="2434132" cy="144572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4008" rIns="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solidFill>
                <a:schemeClr val="tx1"/>
              </a:solidFill>
            </a:rPr>
            <a:t>Built an end-to-end Power BI dashboard covering sales, customers, inventory, and suppliers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885139" y="793698"/>
        <a:ext cx="2434132" cy="1445727"/>
      </dsp:txXfrm>
    </dsp:sp>
    <dsp:sp modelId="{7509AE9F-4703-4AA0-87BC-EF67AB79A206}">
      <dsp:nvSpPr>
        <dsp:cNvPr id="0" name=""/>
        <dsp:cNvSpPr/>
      </dsp:nvSpPr>
      <dsp:spPr>
        <a:xfrm>
          <a:off x="3688080" y="1265772"/>
          <a:ext cx="2876702" cy="144572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4008" rIns="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</a:rPr>
            <a:t>Converted raw data into clear insights to support business decisions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3688080" y="1265772"/>
        <a:ext cx="2876702" cy="144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94158-614D-4608-A502-E746671CBA9A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92A3D-9B1F-48A2-8C34-D7E40B613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58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92A3D-9B1F-48A2-8C34-D7E40B613A5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613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2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SQL | Excel | Power BI</a:t>
            </a:r>
          </a:p>
          <a:p>
            <a:r>
              <a:t>Prepared by Priyanka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sales performance using Northwind database</a:t>
            </a:r>
          </a:p>
          <a:p>
            <a:r>
              <a:t>Identify trends, key customers, and top products</a:t>
            </a:r>
          </a:p>
          <a:p>
            <a:r>
              <a:t>Generate actionable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Source: Northwind sample database</a:t>
            </a:r>
          </a:p>
          <a:p>
            <a:r>
              <a:rPr dirty="0"/>
              <a:t>Key tables: Orders, Order Details, Customers, Products</a:t>
            </a:r>
          </a:p>
          <a:p>
            <a:r>
              <a:rPr dirty="0"/>
              <a:t>Supporting tables: Categories, Suppliers, Employees</a:t>
            </a:r>
            <a:r>
              <a:rPr lang="en-US" dirty="0"/>
              <a:t>, Shippers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67"/>
            <a:ext cx="8229600" cy="722670"/>
          </a:xfrm>
        </p:spPr>
        <p:txBody>
          <a:bodyPr>
            <a:normAutofit fontScale="90000"/>
          </a:bodyPr>
          <a:lstStyle/>
          <a:p>
            <a:r>
              <a:rPr dirty="0"/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9999"/>
            <a:ext cx="8229600" cy="1843881"/>
          </a:xfrm>
        </p:spPr>
        <p:txBody>
          <a:bodyPr>
            <a:normAutofit/>
          </a:bodyPr>
          <a:lstStyle/>
          <a:p>
            <a:r>
              <a:rPr sz="2000" dirty="0"/>
              <a:t>Fact table: Order Details</a:t>
            </a:r>
            <a:r>
              <a:rPr lang="en-US" sz="2000" dirty="0"/>
              <a:t> </a:t>
            </a:r>
          </a:p>
          <a:p>
            <a:r>
              <a:rPr lang="en-US" sz="2000" dirty="0"/>
              <a:t>Transaction table: Orders</a:t>
            </a:r>
            <a:endParaRPr sz="2000" dirty="0"/>
          </a:p>
          <a:p>
            <a:r>
              <a:rPr sz="2000" dirty="0"/>
              <a:t>Dimension tables: Customer</a:t>
            </a:r>
            <a:r>
              <a:rPr lang="en-US" sz="2000" dirty="0"/>
              <a:t>s</a:t>
            </a:r>
            <a:r>
              <a:rPr sz="2000" dirty="0"/>
              <a:t>,</a:t>
            </a:r>
            <a:r>
              <a:rPr lang="en-US" sz="2000" dirty="0"/>
              <a:t> </a:t>
            </a:r>
            <a:r>
              <a:rPr sz="2000" dirty="0"/>
              <a:t>Products, </a:t>
            </a:r>
            <a:r>
              <a:rPr lang="en-US" sz="2000" dirty="0"/>
              <a:t>Categories</a:t>
            </a:r>
            <a:r>
              <a:rPr sz="2000" dirty="0"/>
              <a:t>,</a:t>
            </a:r>
            <a:r>
              <a:rPr lang="en-US" sz="2000" dirty="0"/>
              <a:t> </a:t>
            </a:r>
            <a:r>
              <a:rPr sz="2000" dirty="0"/>
              <a:t>Employees</a:t>
            </a:r>
            <a:r>
              <a:rPr lang="en-US" sz="2000" dirty="0"/>
              <a:t>, Suppliers, Shippers</a:t>
            </a:r>
          </a:p>
          <a:p>
            <a:r>
              <a:rPr lang="en-US" sz="2000" dirty="0"/>
              <a:t>Measures table: Disconnected (DAX only)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5D450A-C053-70DC-E105-2E1B57E15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2540"/>
            <a:ext cx="9144000" cy="35311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DD2885-10E2-9FA0-3CF8-8716896B3A24}"/>
              </a:ext>
            </a:extLst>
          </p:cNvPr>
          <p:cNvSpPr txBox="1"/>
          <p:nvPr/>
        </p:nvSpPr>
        <p:spPr>
          <a:xfrm>
            <a:off x="457200" y="6371301"/>
            <a:ext cx="8229600" cy="33855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Star-schema model with Order Details as fact table and Orders acting as a transactional bridge.</a:t>
            </a:r>
            <a:endParaRPr lang="en-IN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</a:t>
            </a:r>
            <a:r>
              <a:rPr lang="en-US" dirty="0"/>
              <a:t> Business</a:t>
            </a:r>
            <a:r>
              <a:rPr dirty="0"/>
              <a:t> KPIs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D75D13-A8C3-E275-92A7-13A197CC77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75955" y="1804509"/>
            <a:ext cx="2505425" cy="12828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BD4D67-529C-752A-CE87-1419C09BFB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86439" y="1802887"/>
            <a:ext cx="2467319" cy="12844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64FC41-D28A-809D-A992-6D7946F3C5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85482" y="3770673"/>
            <a:ext cx="2505425" cy="12761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727528-7DA9-2212-6549-AD1B887FE2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53095" y="3770673"/>
            <a:ext cx="2500663" cy="12761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Sales Trend </a:t>
            </a:r>
            <a:r>
              <a:rPr lang="en-US" dirty="0"/>
              <a:t>Over Time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50C7F9-95DC-87E9-A036-2CF7D06F5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94" y="1584786"/>
            <a:ext cx="8326012" cy="34296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1C8EAEA-58DC-ECE5-35A4-01BFF85E06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1719295"/>
              </p:ext>
            </p:extLst>
          </p:nvPr>
        </p:nvGraphicFramePr>
        <p:xfrm>
          <a:off x="408994" y="5476567"/>
          <a:ext cx="8326012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Product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5A920-0E6D-06DE-39EE-BA58AD263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20" y="1417638"/>
            <a:ext cx="7923959" cy="3392105"/>
          </a:xfrm>
          <a:prstGeom prst="rect">
            <a:avLst/>
          </a:prstGeom>
        </p:spPr>
      </p:pic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3A5F5043-7F9A-6466-2EBB-BC06F6105D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1899067"/>
              </p:ext>
            </p:extLst>
          </p:nvPr>
        </p:nvGraphicFramePr>
        <p:xfrm>
          <a:off x="602224" y="5010699"/>
          <a:ext cx="7939549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227BA-7DAB-1D0C-E902-904933E7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73"/>
            <a:ext cx="8229600" cy="1143000"/>
          </a:xfrm>
        </p:spPr>
        <p:txBody>
          <a:bodyPr/>
          <a:lstStyle/>
          <a:p>
            <a:r>
              <a:rPr lang="en-US" dirty="0"/>
              <a:t>Inventory Analysis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5455B-E1D1-F39D-B344-429CAF772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499" y="1071719"/>
            <a:ext cx="4893001" cy="19812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151327-8644-8571-97BD-536033A41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7834"/>
            <a:ext cx="9144000" cy="2418736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258FB40-B633-9A50-3895-94C880C596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6723954"/>
              </p:ext>
            </p:extLst>
          </p:nvPr>
        </p:nvGraphicFramePr>
        <p:xfrm>
          <a:off x="457200" y="5633884"/>
          <a:ext cx="8229600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14477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12C6D-AD7C-81EF-71C7-F5F057E828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76746" y="1417639"/>
            <a:ext cx="7590506" cy="3518268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EC9D8CC-83C1-3982-AB71-1F9B743F2D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6355874"/>
              </p:ext>
            </p:extLst>
          </p:nvPr>
        </p:nvGraphicFramePr>
        <p:xfrm>
          <a:off x="776747" y="5141820"/>
          <a:ext cx="7590505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&amp; Supplier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E19B6-D1EE-CA0B-3B15-7D133F819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0" y="1422401"/>
            <a:ext cx="4414686" cy="31299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6E251C-ADFD-032E-4618-F2A60C815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825" y="1422402"/>
            <a:ext cx="4414685" cy="312993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0970C4A-B580-7F82-2357-3F7A9BFB32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7032776"/>
              </p:ext>
            </p:extLst>
          </p:nvPr>
        </p:nvGraphicFramePr>
        <p:xfrm>
          <a:off x="270386" y="4820887"/>
          <a:ext cx="8603227" cy="147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Anomalies &amp; Key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D9CB6-A96C-08F7-87D5-4D53F48001F8}"/>
              </a:ext>
            </a:extLst>
          </p:cNvPr>
          <p:cNvSpPr txBox="1"/>
          <p:nvPr/>
        </p:nvSpPr>
        <p:spPr>
          <a:xfrm>
            <a:off x="914400" y="5132438"/>
            <a:ext cx="7674077" cy="3097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2570F71-E821-B21C-6813-0F3707570F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4350606"/>
              </p:ext>
            </p:extLst>
          </p:nvPr>
        </p:nvGraphicFramePr>
        <p:xfrm>
          <a:off x="1114363" y="1666514"/>
          <a:ext cx="6915273" cy="29043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D8340-D720-EBCD-0570-101B2B6BD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3478"/>
            <a:ext cx="8229600" cy="4133425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300F6DC-1C88-31A9-B1BA-72F35B9363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7233920"/>
              </p:ext>
            </p:extLst>
          </p:nvPr>
        </p:nvGraphicFramePr>
        <p:xfrm>
          <a:off x="1897626" y="5748522"/>
          <a:ext cx="5348747" cy="9233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50E33AE-97AC-569A-3CC8-4E0C5ECDC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lang="en-IN" dirty="0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7EEC7D93-8016-CCB2-3702-78A2F10BA3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78923"/>
              </p:ext>
            </p:extLst>
          </p:nvPr>
        </p:nvGraphicFramePr>
        <p:xfrm>
          <a:off x="1028700" y="1737678"/>
          <a:ext cx="7086600" cy="3139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Rectangle 6">
            <a:extLst>
              <a:ext uri="{FF2B5EF4-FFF2-40B4-BE49-F238E27FC236}">
                <a16:creationId xmlns:a16="http://schemas.microsoft.com/office/drawing/2014/main" id="{2A7157FA-06AD-3494-1333-026340683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C65D348-48F9-9C1F-556D-C4EB4C6AF4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8675051"/>
              </p:ext>
            </p:extLst>
          </p:nvPr>
        </p:nvGraphicFramePr>
        <p:xfrm>
          <a:off x="1203960" y="1287780"/>
          <a:ext cx="7376160" cy="3505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373</Words>
  <Application>Microsoft Office PowerPoint</Application>
  <PresentationFormat>On-screen Show (4:3)</PresentationFormat>
  <Paragraphs>47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Northwind Sales Analysis</vt:lpstr>
      <vt:lpstr>Project Objective</vt:lpstr>
      <vt:lpstr>Dataset Overview</vt:lpstr>
      <vt:lpstr>Data Model</vt:lpstr>
      <vt:lpstr>Key Business KPIs</vt:lpstr>
      <vt:lpstr>Sales Trend Over Time</vt:lpstr>
      <vt:lpstr>Product Analysis</vt:lpstr>
      <vt:lpstr>Inventory Analysis</vt:lpstr>
      <vt:lpstr>Customer Analysis</vt:lpstr>
      <vt:lpstr>Regional &amp; Supplier Analysis</vt:lpstr>
      <vt:lpstr>Anomalies &amp; Key Insights</vt:lpstr>
      <vt:lpstr>Power BI Dashboard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Manoj Pawar</cp:lastModifiedBy>
  <cp:revision>12</cp:revision>
  <dcterms:created xsi:type="dcterms:W3CDTF">2013-01-27T09:14:16Z</dcterms:created>
  <dcterms:modified xsi:type="dcterms:W3CDTF">2026-02-09T18:17:05Z</dcterms:modified>
  <cp:category/>
</cp:coreProperties>
</file>